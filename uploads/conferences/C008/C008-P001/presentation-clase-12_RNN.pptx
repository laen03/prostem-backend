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8"/>
  </p:notesMasterIdLst>
  <p:sldIdLst>
    <p:sldId id="256" r:id="rId2"/>
    <p:sldId id="257" r:id="rId3"/>
    <p:sldId id="28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2" autoAdjust="0"/>
    <p:restoredTop sz="94660"/>
  </p:normalViewPr>
  <p:slideViewPr>
    <p:cSldViewPr snapToGrid="0">
      <p:cViewPr varScale="1">
        <p:scale>
          <a:sx n="85" d="100"/>
          <a:sy n="85" d="100"/>
        </p:scale>
        <p:origin x="61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92499-A1B1-461F-9115-911554007BAC}" type="datetimeFigureOut">
              <a:rPr lang="es-CR" smtClean="0"/>
              <a:t>1/11/2024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96949-373A-47E6-BD3B-9DBCD195AA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29225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81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179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34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542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29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87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17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1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43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17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11/1/2024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04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commons.wikimedia.org/wiki/File:Artificial_neural_network.svg" TargetMode="External"/><Relationship Id="rId4" Type="http://schemas.openxmlformats.org/officeDocument/2006/relationships/hyperlink" Target="https://commons.wikimedia.org/wiki/File:RecurrentLayerNeuralNetwork_english.png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Fichier:Recurrent_neural_network_unfold.svg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karpathy.github.io/2015/05/21/rnn-effectivenes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karpathy.github.io/2015/05/21/rnn-effectivenes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fr.wikipedia.org/wiki/Fichier:Recurrent_neural_network_unfold.sv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fr.wikipedia.org/wiki/Fichier:Recurrent_neural_network_unfold.svg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rstechnica.com/gaming/2016/06/an-ai-wrote-this-movie-and-its-strangely-mov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fr.wikipedia.org/wiki/Fichier:Recurrent_neural_network_unfold.sv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fr.wikipedia.org/wiki/Fichier:Recurrent_neural_network_unfold.sv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Gradient_descent.png" TargetMode="External"/><Relationship Id="rId2" Type="http://schemas.openxmlformats.org/officeDocument/2006/relationships/hyperlink" Target="https://commons.wikimedia.org/wiki/File:Gradient_descent_method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34" Type="http://schemas.openxmlformats.org/officeDocument/2006/relationships/image" Target="../media/image4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hyperlink" Target="https://colah.github.io/posts/2015-08-Understanding-LSTMs/" TargetMode="Externa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36" Type="http://schemas.openxmlformats.org/officeDocument/2006/relationships/image" Target="../media/image1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35" Type="http://schemas.openxmlformats.org/officeDocument/2006/relationships/image" Target="../media/image49.png"/><Relationship Id="rId8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commons.wikimedia.org/wiki/File:LSTM.png" TargetMode="External"/><Relationship Id="rId4" Type="http://schemas.openxmlformats.org/officeDocument/2006/relationships/hyperlink" Target="https://colah.github.io/posts/2015-08-Understanding-LSTMs/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2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Inteligencia Artificial</a:t>
            </a:r>
            <a:endParaRPr lang="es-C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pt-BR" dirty="0"/>
              <a:t>Instituto Tecnológico de Costa Rica</a:t>
            </a:r>
          </a:p>
          <a:p>
            <a:pPr algn="r"/>
            <a:r>
              <a:rPr lang="pt-BR" dirty="0"/>
              <a:t>IC-6200</a:t>
            </a:r>
          </a:p>
          <a:p>
            <a:pPr algn="r"/>
            <a:r>
              <a:rPr lang="pt-BR" dirty="0"/>
              <a:t>II Semestre 2024</a:t>
            </a:r>
          </a:p>
          <a:p>
            <a:pPr algn="r"/>
            <a:r>
              <a:rPr lang="pt-BR" dirty="0"/>
              <a:t>Prof. Efrén Jimenez Delgado</a:t>
            </a:r>
          </a:p>
          <a:p>
            <a:endParaRPr lang="pt-BR" dirty="0"/>
          </a:p>
          <a:p>
            <a:endParaRPr lang="es-CR" dirty="0"/>
          </a:p>
        </p:txBody>
      </p:sp>
      <p:pic>
        <p:nvPicPr>
          <p:cNvPr id="4" name="Picture 2" descr="https://upload.wikimedia.org/wikipedia/commons/thumb/1/13/ITCR_LOGO.svg/1063px-ITCR_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844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Agenda</a:t>
            </a:r>
            <a:endParaRPr lang="es-C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7219278" cy="4351338"/>
          </a:xfrm>
        </p:spPr>
        <p:txBody>
          <a:bodyPr>
            <a:normAutofit/>
          </a:bodyPr>
          <a:lstStyle/>
          <a:p>
            <a:r>
              <a:rPr lang="es-CR" sz="2400" dirty="0" err="1"/>
              <a:t>Recurrent</a:t>
            </a:r>
            <a:r>
              <a:rPr lang="es-CR" sz="2400" dirty="0"/>
              <a:t> Neural Networks </a:t>
            </a:r>
          </a:p>
          <a:p>
            <a:r>
              <a:rPr lang="es-ES" sz="2400" dirty="0" err="1"/>
              <a:t>Recurrent</a:t>
            </a:r>
            <a:r>
              <a:rPr lang="es-ES" sz="2400" dirty="0"/>
              <a:t> Neural Networks </a:t>
            </a:r>
            <a:r>
              <a:rPr lang="es-ES" sz="2400" dirty="0" err="1"/>
              <a:t>Architecture</a:t>
            </a:r>
            <a:endParaRPr lang="es-ES" sz="2400" dirty="0"/>
          </a:p>
          <a:p>
            <a:r>
              <a:rPr lang="en-US" sz="2400" dirty="0"/>
              <a:t>What makes recurrent neural networks so special?!</a:t>
            </a:r>
          </a:p>
          <a:p>
            <a:r>
              <a:rPr lang="es-ES" sz="2400" dirty="0" err="1"/>
              <a:t>Recurrent</a:t>
            </a:r>
            <a:r>
              <a:rPr lang="es-ES" sz="2400" dirty="0"/>
              <a:t> neural </a:t>
            </a:r>
            <a:r>
              <a:rPr lang="es-ES" sz="2400" dirty="0" err="1"/>
              <a:t>network</a:t>
            </a:r>
            <a:r>
              <a:rPr lang="es-ES" sz="2400" dirty="0"/>
              <a:t> </a:t>
            </a:r>
            <a:r>
              <a:rPr lang="es-ES" sz="2400" dirty="0" err="1"/>
              <a:t>math</a:t>
            </a:r>
            <a:endParaRPr lang="es-ES" sz="2400" dirty="0"/>
          </a:p>
          <a:p>
            <a:r>
              <a:rPr lang="es-ES" sz="2400" dirty="0" err="1"/>
              <a:t>Vanishing</a:t>
            </a:r>
            <a:r>
              <a:rPr lang="es-ES" sz="2400" dirty="0"/>
              <a:t> </a:t>
            </a:r>
            <a:r>
              <a:rPr lang="es-ES" sz="2400" dirty="0" err="1"/>
              <a:t>gradient</a:t>
            </a:r>
            <a:r>
              <a:rPr lang="es-ES" sz="2400" dirty="0"/>
              <a:t> </a:t>
            </a:r>
            <a:r>
              <a:rPr lang="es-ES" sz="2400" dirty="0" err="1"/>
              <a:t>problem</a:t>
            </a:r>
            <a:endParaRPr lang="es-ES" sz="2400" dirty="0"/>
          </a:p>
        </p:txBody>
      </p:sp>
      <p:pic>
        <p:nvPicPr>
          <p:cNvPr id="4" name="Picture 2" descr="https://upload.wikimedia.org/wikipedia/commons/thumb/1/13/ITCR_LOGO.svg/1063px-ITCR_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6B47E1-1532-4668-8901-E743ADFE8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835" y="1814924"/>
            <a:ext cx="3319693" cy="372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1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DE573-240D-4E3A-9333-B410AF6F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R" sz="6000" dirty="0" err="1"/>
              <a:t>Recurrent</a:t>
            </a:r>
            <a:r>
              <a:rPr lang="es-CR" sz="6000" dirty="0"/>
              <a:t> Neural Networks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0B0C2E-C968-4256-B7E7-4E1D1CE77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6888DAF1-B5B1-467B-AC35-DF767EB37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29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C8B02A9-3E8B-4C09-976C-947DB8F62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RECURRENT NEURAL NETWORKS (RNN): WHAT ARE THEY?</a:t>
            </a:r>
            <a:endParaRPr lang="es-C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2DA27DC-026A-4C2F-B8F8-4697B36F2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400" dirty="0">
                <a:latin typeface="medium-content-serif-font"/>
              </a:rPr>
              <a:t>We covered Feedforward Neural Networks (vanilla networks) that map a fixed size input (such as image) to a fixed size output (classes or probabilities).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400" dirty="0">
                <a:latin typeface="medium-content-serif-font"/>
              </a:rPr>
              <a:t>A drawback in Feedforward networks is that they do not have any time dependency or memory effect.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400" dirty="0">
                <a:latin typeface="medium-content-serif-font"/>
              </a:rPr>
              <a:t>A RNN is a type of ANN that is designed to take temporal dimension into consideration by having a memory (internal state) (feedback loop). </a:t>
            </a:r>
          </a:p>
          <a:p>
            <a:endParaRPr lang="es-CR" dirty="0"/>
          </a:p>
        </p:txBody>
      </p:sp>
      <p:pic>
        <p:nvPicPr>
          <p:cNvPr id="6" name="Picture 4" descr="File:Artificial neural network.svg">
            <a:extLst>
              <a:ext uri="{FF2B5EF4-FFF2-40B4-BE49-F238E27FC236}">
                <a16:creationId xmlns:a16="http://schemas.microsoft.com/office/drawing/2014/main" id="{5B7CFDB9-218C-421B-AF82-9A91DC3A8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944" y="3314057"/>
            <a:ext cx="3206455" cy="286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8AF78C02-B076-4E60-BC58-40EB276B0066}"/>
              </a:ext>
            </a:extLst>
          </p:cNvPr>
          <p:cNvSpPr txBox="1"/>
          <p:nvPr/>
        </p:nvSpPr>
        <p:spPr>
          <a:xfrm>
            <a:off x="2217203" y="2913947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>
                <a:solidFill>
                  <a:srgbClr val="FF0000"/>
                </a:solidFill>
              </a:rPr>
              <a:t>FEED FORWARD ANN</a:t>
            </a: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796A3F35-8460-4D6F-B99F-16E951EBF434}"/>
              </a:ext>
            </a:extLst>
          </p:cNvPr>
          <p:cNvSpPr txBox="1"/>
          <p:nvPr/>
        </p:nvSpPr>
        <p:spPr>
          <a:xfrm>
            <a:off x="7800135" y="2913947"/>
            <a:ext cx="3553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>
                <a:solidFill>
                  <a:srgbClr val="FF0000"/>
                </a:solidFill>
              </a:rPr>
              <a:t>RECURRENT NEURAL NETWORK</a:t>
            </a:r>
          </a:p>
        </p:txBody>
      </p:sp>
      <p:pic>
        <p:nvPicPr>
          <p:cNvPr id="9" name="Picture 6" descr="File:RecurrentLayerNeuralNetwork english.png">
            <a:extLst>
              <a:ext uri="{FF2B5EF4-FFF2-40B4-BE49-F238E27FC236}">
                <a16:creationId xmlns:a16="http://schemas.microsoft.com/office/drawing/2014/main" id="{4CDC1F51-C065-4C9D-B8FD-371AA323D8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95" b="9577"/>
          <a:stretch/>
        </p:blipFill>
        <p:spPr bwMode="auto">
          <a:xfrm>
            <a:off x="8043520" y="3314057"/>
            <a:ext cx="2762832" cy="25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35">
            <a:extLst>
              <a:ext uri="{FF2B5EF4-FFF2-40B4-BE49-F238E27FC236}">
                <a16:creationId xmlns:a16="http://schemas.microsoft.com/office/drawing/2014/main" id="{AE765DA9-5E70-45F5-BFD4-9A991071514D}"/>
              </a:ext>
            </a:extLst>
          </p:cNvPr>
          <p:cNvSpPr/>
          <p:nvPr/>
        </p:nvSpPr>
        <p:spPr>
          <a:xfrm>
            <a:off x="2824402" y="6347859"/>
            <a:ext cx="76009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Photo Credit: </a:t>
            </a:r>
            <a:r>
              <a:rPr lang="en-CA" sz="1200" dirty="0">
                <a:hlinkClick r:id="rId4"/>
              </a:rPr>
              <a:t>https://commons.wikimedia.org/wiki/File:RecurrentLayerNeuralNetwork_english.png</a:t>
            </a:r>
            <a:endParaRPr lang="en-CA" sz="1200" dirty="0"/>
          </a:p>
          <a:p>
            <a:r>
              <a:rPr lang="en-CA" sz="1200" dirty="0"/>
              <a:t>Photo Credit: </a:t>
            </a:r>
            <a:r>
              <a:rPr lang="en-CA" sz="1200" dirty="0">
                <a:hlinkClick r:id="rId5"/>
              </a:rPr>
              <a:t>https://commons.wikimedia.org/wiki/File:Artificial_neural_network.svg</a:t>
            </a:r>
            <a:endParaRPr lang="en-CA" sz="1200" dirty="0"/>
          </a:p>
          <a:p>
            <a:endParaRPr lang="en-CA" sz="1200" dirty="0"/>
          </a:p>
          <a:p>
            <a:endParaRPr lang="en-CA" sz="1200" dirty="0"/>
          </a:p>
        </p:txBody>
      </p:sp>
      <p:pic>
        <p:nvPicPr>
          <p:cNvPr id="11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4A467E0F-292A-46F1-9F13-B4D8C4F58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3135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045ADE2-3779-49E6-B4FF-9831FB07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6000" dirty="0" err="1"/>
              <a:t>Recurrent</a:t>
            </a:r>
            <a:r>
              <a:rPr lang="es-ES" sz="6000" dirty="0"/>
              <a:t> Neural Networks </a:t>
            </a:r>
            <a:r>
              <a:rPr lang="es-ES" sz="6000" dirty="0" err="1"/>
              <a:t>Architecture</a:t>
            </a:r>
            <a:endParaRPr lang="es-ES" sz="60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82A758-6D81-4547-900C-6B8B8F470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6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0689ACFC-2A90-4C56-BA1E-E55BC0A5A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82308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6F3A56-DC64-403B-A0B9-B8423686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RNN ARCHITECTURE</a:t>
            </a:r>
            <a:endParaRPr lang="es-CR" b="1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7D62575-9D62-48EE-B6C3-C28022026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RNN contains a temporal loop in which the hidden layer not only gives an output but it feeds itself as well.</a:t>
            </a:r>
          </a:p>
          <a:p>
            <a:r>
              <a:rPr lang="en-US" sz="2400" dirty="0"/>
              <a:t>An extra dimension is added which is time!</a:t>
            </a:r>
          </a:p>
          <a:p>
            <a:r>
              <a:rPr lang="en-US" sz="2400" dirty="0"/>
              <a:t>RNN can recall what happened in the previous time stamp so it works great with sequence of text. </a:t>
            </a:r>
          </a:p>
          <a:p>
            <a:endParaRPr lang="es-CR" dirty="0"/>
          </a:p>
        </p:txBody>
      </p:sp>
      <p:pic>
        <p:nvPicPr>
          <p:cNvPr id="6" name="Picture 2" descr="Fichier:Recurrent neural network unfold.svg">
            <a:extLst>
              <a:ext uri="{FF2B5EF4-FFF2-40B4-BE49-F238E27FC236}">
                <a16:creationId xmlns:a16="http://schemas.microsoft.com/office/drawing/2014/main" id="{6505A697-9156-4245-81A0-62F4D3DC5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275" y="3600781"/>
            <a:ext cx="8665450" cy="289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BE6B44A-9A82-4D19-9164-0A6EC202B8EC}"/>
              </a:ext>
            </a:extLst>
          </p:cNvPr>
          <p:cNvSpPr/>
          <p:nvPr/>
        </p:nvSpPr>
        <p:spPr>
          <a:xfrm>
            <a:off x="2916195" y="6242612"/>
            <a:ext cx="97371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Photo Credit: </a:t>
            </a:r>
            <a:r>
              <a:rPr lang="en-CA" sz="1200" dirty="0">
                <a:hlinkClick r:id="rId3"/>
              </a:rPr>
              <a:t>https://fr.wikipedia.org/wiki/Fichier:Recurrent_neural_network_unfold.svg</a:t>
            </a:r>
            <a:endParaRPr lang="en-CA" sz="1200" dirty="0"/>
          </a:p>
          <a:p>
            <a:endParaRPr lang="en-CA" sz="1200" dirty="0"/>
          </a:p>
        </p:txBody>
      </p:sp>
      <p:pic>
        <p:nvPicPr>
          <p:cNvPr id="8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FF0E5282-FCAC-468C-A528-DCCFE6648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0774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06995-BC94-4080-BF87-205277C4C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RNNs</a:t>
            </a:r>
            <a:r>
              <a:rPr lang="es-CR" dirty="0"/>
              <a:t> WORK LIKE MAGIC!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68E08B-3860-4A22-BC01-D8046B678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b="1" i="1" dirty="0">
                <a:latin typeface="medium-content-serif-font"/>
              </a:rPr>
              <a:t>We’ll train RNNs to generate text character by character and ponder the question “how is that even possible?”</a:t>
            </a:r>
          </a:p>
          <a:p>
            <a:endParaRPr lang="es-CR" dirty="0"/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68168D2D-D4C3-4932-BB27-3FFA47B08BA5}"/>
              </a:ext>
            </a:extLst>
          </p:cNvPr>
          <p:cNvSpPr/>
          <p:nvPr/>
        </p:nvSpPr>
        <p:spPr>
          <a:xfrm>
            <a:off x="1140714" y="3429000"/>
            <a:ext cx="105830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/>
              <a:t>Source: The Unreasonable Effectiveness of Recurrent Neural Networks by Andrej </a:t>
            </a:r>
            <a:r>
              <a:rPr lang="en-CA" sz="2400" dirty="0" err="1"/>
              <a:t>Karpathy</a:t>
            </a:r>
            <a:r>
              <a:rPr lang="en-CA" sz="2400" dirty="0"/>
              <a:t> </a:t>
            </a:r>
          </a:p>
          <a:p>
            <a:r>
              <a:rPr lang="en-CA" sz="2400" dirty="0">
                <a:hlinkClick r:id="rId2"/>
              </a:rPr>
              <a:t>http://karpathy.github.io/2015/05/21/rnn-effectiveness/</a:t>
            </a:r>
            <a:endParaRPr lang="en-CA" sz="2400" dirty="0"/>
          </a:p>
          <a:p>
            <a:endParaRPr lang="en-CA" sz="2400" dirty="0"/>
          </a:p>
        </p:txBody>
      </p:sp>
      <p:pic>
        <p:nvPicPr>
          <p:cNvPr id="5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1E577CF1-8EBE-4BDA-85B4-65EA76AC8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78391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9355EC8-4E19-41FB-8C24-BA4E27D9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MAKES RECURRENT NEURAL NETWORKS SO SPECIAL?!</a:t>
            </a:r>
            <a:endParaRPr lang="es-C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3861E8-21E0-4185-B380-406AF569E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6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0460F077-72DE-4827-946E-1835A70D4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50033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BC157F-6913-453D-9153-7FB9E856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RNNs SO SPECIAL? </a:t>
            </a:r>
            <a:endParaRPr lang="es-C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F230543-C5A2-4EF9-A02D-320A356B6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AF55BAC-4B39-421E-A941-051813693477}"/>
              </a:ext>
            </a:extLst>
          </p:cNvPr>
          <p:cNvSpPr/>
          <p:nvPr/>
        </p:nvSpPr>
        <p:spPr>
          <a:xfrm>
            <a:off x="838200" y="1690688"/>
            <a:ext cx="676002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Feedforward ANNs are so constrained with their fixed number of input and outputs.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For example, a CNN will have fixed size image (28x28) and generates a fixed output (class or probabilities).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Feedforward ANN have a fixed configuration, i.e.: same number of hidden layers and weights.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Recurrent Neural Networks offer huge advantage over feedforward ANN and they are much more fun!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RNN allow us to work with a sequence of vectors: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Sequence in inputs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Sequence in outputs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Sequence in both!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7246C7F9-FE46-4A5E-9CEF-F8281377B0E8}"/>
              </a:ext>
            </a:extLst>
          </p:cNvPr>
          <p:cNvSpPr txBox="1"/>
          <p:nvPr/>
        </p:nvSpPr>
        <p:spPr>
          <a:xfrm>
            <a:off x="7901088" y="2106546"/>
            <a:ext cx="3553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>
                <a:solidFill>
                  <a:srgbClr val="FF0000"/>
                </a:solidFill>
              </a:rPr>
              <a:t>RECURRENT NEURAL NETWORK</a:t>
            </a:r>
          </a:p>
        </p:txBody>
      </p:sp>
      <p:pic>
        <p:nvPicPr>
          <p:cNvPr id="8" name="Picture 6" descr="File:RecurrentLayerNeuralNetwork english.png">
            <a:extLst>
              <a:ext uri="{FF2B5EF4-FFF2-40B4-BE49-F238E27FC236}">
                <a16:creationId xmlns:a16="http://schemas.microsoft.com/office/drawing/2014/main" id="{E5441E46-DE69-4555-BFFA-10E2E2346A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95" b="9577"/>
          <a:stretch/>
        </p:blipFill>
        <p:spPr bwMode="auto">
          <a:xfrm>
            <a:off x="8144473" y="2506656"/>
            <a:ext cx="2762832" cy="25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8">
            <a:extLst>
              <a:ext uri="{FF2B5EF4-FFF2-40B4-BE49-F238E27FC236}">
                <a16:creationId xmlns:a16="http://schemas.microsoft.com/office/drawing/2014/main" id="{3CCC43CE-913F-4C66-98C1-9317C80A09A7}"/>
              </a:ext>
            </a:extLst>
          </p:cNvPr>
          <p:cNvSpPr/>
          <p:nvPr/>
        </p:nvSpPr>
        <p:spPr>
          <a:xfrm>
            <a:off x="2852968" y="5769087"/>
            <a:ext cx="1058301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600" dirty="0"/>
              <a:t>Source: The Unreasonable Effectiveness of Recurrent Neural Networks by Andrej </a:t>
            </a:r>
            <a:r>
              <a:rPr lang="en-CA" sz="1600" dirty="0" err="1"/>
              <a:t>Karpathy</a:t>
            </a:r>
            <a:r>
              <a:rPr lang="en-CA" sz="1600" dirty="0"/>
              <a:t> </a:t>
            </a:r>
          </a:p>
          <a:p>
            <a:r>
              <a:rPr lang="en-CA" sz="1600" dirty="0">
                <a:hlinkClick r:id="rId3"/>
              </a:rPr>
              <a:t>http://karpathy.github.io/2015/05/21/rnn-effectiveness/</a:t>
            </a:r>
            <a:endParaRPr lang="en-CA" sz="1600" dirty="0"/>
          </a:p>
          <a:p>
            <a:endParaRPr lang="en-CA" sz="1600" dirty="0"/>
          </a:p>
        </p:txBody>
      </p:sp>
      <p:pic>
        <p:nvPicPr>
          <p:cNvPr id="10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825955C5-733A-458B-9F79-A4A87B7E5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5850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51CA3-AA77-4AB0-8487-7DFB33D6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RNNs SO SPECIAL? </a:t>
            </a:r>
            <a:endParaRPr lang="es-C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0DB7A7-546E-471D-8D67-F760641A1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CDCA0A30-9D90-425B-81B8-E04B96D88C94}"/>
              </a:ext>
            </a:extLst>
          </p:cNvPr>
          <p:cNvSpPr>
            <a:spLocks/>
          </p:cNvSpPr>
          <p:nvPr/>
        </p:nvSpPr>
        <p:spPr>
          <a:xfrm>
            <a:off x="882131" y="3116443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12">
            <a:extLst>
              <a:ext uri="{FF2B5EF4-FFF2-40B4-BE49-F238E27FC236}">
                <a16:creationId xmlns:a16="http://schemas.microsoft.com/office/drawing/2014/main" id="{2917D224-8483-4F33-9C22-C459F1865826}"/>
              </a:ext>
            </a:extLst>
          </p:cNvPr>
          <p:cNvSpPr>
            <a:spLocks/>
          </p:cNvSpPr>
          <p:nvPr/>
        </p:nvSpPr>
        <p:spPr>
          <a:xfrm>
            <a:off x="882131" y="2340853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0D8E2E67-E750-418F-9EB6-E3DD2ADC0C6F}"/>
              </a:ext>
            </a:extLst>
          </p:cNvPr>
          <p:cNvSpPr>
            <a:spLocks/>
          </p:cNvSpPr>
          <p:nvPr/>
        </p:nvSpPr>
        <p:spPr>
          <a:xfrm>
            <a:off x="882131" y="1609333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C1B3E5B6-D9D0-4EAF-81AD-72CBC0ACD830}"/>
              </a:ext>
            </a:extLst>
          </p:cNvPr>
          <p:cNvCxnSpPr>
            <a:stCxn id="5" idx="0"/>
            <a:endCxn id="6" idx="4"/>
          </p:cNvCxnSpPr>
          <p:nvPr/>
        </p:nvCxnSpPr>
        <p:spPr>
          <a:xfrm flipV="1">
            <a:off x="1065011" y="2706613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7">
            <a:extLst>
              <a:ext uri="{FF2B5EF4-FFF2-40B4-BE49-F238E27FC236}">
                <a16:creationId xmlns:a16="http://schemas.microsoft.com/office/drawing/2014/main" id="{1BC37BD4-647D-457A-9A73-2050610587F5}"/>
              </a:ext>
            </a:extLst>
          </p:cNvPr>
          <p:cNvCxnSpPr/>
          <p:nvPr/>
        </p:nvCxnSpPr>
        <p:spPr>
          <a:xfrm flipV="1">
            <a:off x="1065011" y="1964616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1">
            <a:extLst>
              <a:ext uri="{FF2B5EF4-FFF2-40B4-BE49-F238E27FC236}">
                <a16:creationId xmlns:a16="http://schemas.microsoft.com/office/drawing/2014/main" id="{8A26D9C5-0D26-4E76-9FC8-2490B3159CD4}"/>
              </a:ext>
            </a:extLst>
          </p:cNvPr>
          <p:cNvSpPr>
            <a:spLocks/>
          </p:cNvSpPr>
          <p:nvPr/>
        </p:nvSpPr>
        <p:spPr>
          <a:xfrm>
            <a:off x="5229652" y="3155012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462C2E17-DBC4-44C5-9399-12814D6DC531}"/>
              </a:ext>
            </a:extLst>
          </p:cNvPr>
          <p:cNvSpPr>
            <a:spLocks/>
          </p:cNvSpPr>
          <p:nvPr/>
        </p:nvSpPr>
        <p:spPr>
          <a:xfrm>
            <a:off x="5229652" y="2379422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7ACE2AC7-081C-45A0-AEF4-E890D07FD114}"/>
              </a:ext>
            </a:extLst>
          </p:cNvPr>
          <p:cNvSpPr>
            <a:spLocks/>
          </p:cNvSpPr>
          <p:nvPr/>
        </p:nvSpPr>
        <p:spPr>
          <a:xfrm>
            <a:off x="5229652" y="1647902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97B7301B-65E8-4C1B-AE63-E38D2BA90AAD}"/>
              </a:ext>
            </a:extLst>
          </p:cNvPr>
          <p:cNvCxnSpPr>
            <a:stCxn id="10" idx="0"/>
            <a:endCxn id="11" idx="4"/>
          </p:cNvCxnSpPr>
          <p:nvPr/>
        </p:nvCxnSpPr>
        <p:spPr>
          <a:xfrm flipV="1">
            <a:off x="5412532" y="2745182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9">
            <a:extLst>
              <a:ext uri="{FF2B5EF4-FFF2-40B4-BE49-F238E27FC236}">
                <a16:creationId xmlns:a16="http://schemas.microsoft.com/office/drawing/2014/main" id="{59C3E38A-8E38-4D20-9EDC-2B16ED86AC65}"/>
              </a:ext>
            </a:extLst>
          </p:cNvPr>
          <p:cNvCxnSpPr/>
          <p:nvPr/>
        </p:nvCxnSpPr>
        <p:spPr>
          <a:xfrm flipV="1">
            <a:off x="5412532" y="2003185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20">
            <a:extLst>
              <a:ext uri="{FF2B5EF4-FFF2-40B4-BE49-F238E27FC236}">
                <a16:creationId xmlns:a16="http://schemas.microsoft.com/office/drawing/2014/main" id="{5CF66125-4C32-40B8-8EA7-0C3142838F4F}"/>
              </a:ext>
            </a:extLst>
          </p:cNvPr>
          <p:cNvSpPr txBox="1"/>
          <p:nvPr/>
        </p:nvSpPr>
        <p:spPr>
          <a:xfrm>
            <a:off x="4022756" y="3590655"/>
            <a:ext cx="420371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b="1" u="sng" dirty="0">
                <a:solidFill>
                  <a:srgbClr val="FF0000"/>
                </a:solidFill>
              </a:rPr>
              <a:t>ONE TO MANY (SEQUENCE OUTPUT) </a:t>
            </a:r>
          </a:p>
          <a:p>
            <a:pPr algn="ctr"/>
            <a:r>
              <a:rPr lang="en-CA" sz="1400" b="1" dirty="0">
                <a:solidFill>
                  <a:srgbClr val="FF0000"/>
                </a:solidFill>
              </a:rPr>
              <a:t>APPLICATION: IMAGE CAPTIONING, INPUT = IMAGE </a:t>
            </a:r>
          </a:p>
          <a:p>
            <a:pPr algn="ctr"/>
            <a:r>
              <a:rPr lang="en-CA" sz="1400" b="1" dirty="0">
                <a:solidFill>
                  <a:srgbClr val="FF0000"/>
                </a:solidFill>
              </a:rPr>
              <a:t>OUTPUTS = SENTENCE OF WORDS)</a:t>
            </a: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D85D6784-1248-4AEA-8C71-3139AB3E25A2}"/>
              </a:ext>
            </a:extLst>
          </p:cNvPr>
          <p:cNvSpPr>
            <a:spLocks/>
          </p:cNvSpPr>
          <p:nvPr/>
        </p:nvSpPr>
        <p:spPr>
          <a:xfrm>
            <a:off x="5941734" y="2379422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B05CACAB-2AAD-4BC2-AD51-737A1137BDD0}"/>
              </a:ext>
            </a:extLst>
          </p:cNvPr>
          <p:cNvSpPr>
            <a:spLocks/>
          </p:cNvSpPr>
          <p:nvPr/>
        </p:nvSpPr>
        <p:spPr>
          <a:xfrm>
            <a:off x="5941734" y="1647902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" name="Straight Arrow Connector 25">
            <a:extLst>
              <a:ext uri="{FF2B5EF4-FFF2-40B4-BE49-F238E27FC236}">
                <a16:creationId xmlns:a16="http://schemas.microsoft.com/office/drawing/2014/main" id="{94AED950-033F-4D79-A05B-A50C9A425B95}"/>
              </a:ext>
            </a:extLst>
          </p:cNvPr>
          <p:cNvCxnSpPr/>
          <p:nvPr/>
        </p:nvCxnSpPr>
        <p:spPr>
          <a:xfrm flipV="1">
            <a:off x="6124614" y="2003185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27">
            <a:extLst>
              <a:ext uri="{FF2B5EF4-FFF2-40B4-BE49-F238E27FC236}">
                <a16:creationId xmlns:a16="http://schemas.microsoft.com/office/drawing/2014/main" id="{B04B0581-3ADF-4FC4-AEC6-24F79BCD7E16}"/>
              </a:ext>
            </a:extLst>
          </p:cNvPr>
          <p:cNvSpPr>
            <a:spLocks/>
          </p:cNvSpPr>
          <p:nvPr/>
        </p:nvSpPr>
        <p:spPr>
          <a:xfrm>
            <a:off x="6658170" y="2379422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0B7826FB-7D7D-4B95-BC9A-A7CCF0AB95DE}"/>
              </a:ext>
            </a:extLst>
          </p:cNvPr>
          <p:cNvSpPr>
            <a:spLocks/>
          </p:cNvSpPr>
          <p:nvPr/>
        </p:nvSpPr>
        <p:spPr>
          <a:xfrm>
            <a:off x="6658170" y="1647902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1" name="Straight Arrow Connector 30">
            <a:extLst>
              <a:ext uri="{FF2B5EF4-FFF2-40B4-BE49-F238E27FC236}">
                <a16:creationId xmlns:a16="http://schemas.microsoft.com/office/drawing/2014/main" id="{D44A172B-6D01-4246-A3C2-0E284EEC3AC0}"/>
              </a:ext>
            </a:extLst>
          </p:cNvPr>
          <p:cNvCxnSpPr/>
          <p:nvPr/>
        </p:nvCxnSpPr>
        <p:spPr>
          <a:xfrm flipV="1">
            <a:off x="6841050" y="2003185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31">
            <a:extLst>
              <a:ext uri="{FF2B5EF4-FFF2-40B4-BE49-F238E27FC236}">
                <a16:creationId xmlns:a16="http://schemas.microsoft.com/office/drawing/2014/main" id="{4D03B752-8D6F-4039-AA0B-12C5531D7E7A}"/>
              </a:ext>
            </a:extLst>
          </p:cNvPr>
          <p:cNvCxnSpPr>
            <a:stCxn id="11" idx="6"/>
            <a:endCxn id="16" idx="2"/>
          </p:cNvCxnSpPr>
          <p:nvPr/>
        </p:nvCxnSpPr>
        <p:spPr>
          <a:xfrm>
            <a:off x="5595412" y="2562302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32">
            <a:extLst>
              <a:ext uri="{FF2B5EF4-FFF2-40B4-BE49-F238E27FC236}">
                <a16:creationId xmlns:a16="http://schemas.microsoft.com/office/drawing/2014/main" id="{65118B97-3FB9-49EA-9B7F-5B16C3D27B38}"/>
              </a:ext>
            </a:extLst>
          </p:cNvPr>
          <p:cNvCxnSpPr/>
          <p:nvPr/>
        </p:nvCxnSpPr>
        <p:spPr>
          <a:xfrm>
            <a:off x="6307494" y="2545031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33">
            <a:extLst>
              <a:ext uri="{FF2B5EF4-FFF2-40B4-BE49-F238E27FC236}">
                <a16:creationId xmlns:a16="http://schemas.microsoft.com/office/drawing/2014/main" id="{31AD9566-4809-42F3-A358-3D1281457BA7}"/>
              </a:ext>
            </a:extLst>
          </p:cNvPr>
          <p:cNvSpPr>
            <a:spLocks/>
          </p:cNvSpPr>
          <p:nvPr/>
        </p:nvSpPr>
        <p:spPr>
          <a:xfrm>
            <a:off x="8187362" y="4986594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34">
            <a:extLst>
              <a:ext uri="{FF2B5EF4-FFF2-40B4-BE49-F238E27FC236}">
                <a16:creationId xmlns:a16="http://schemas.microsoft.com/office/drawing/2014/main" id="{D01A4072-797C-4443-8DF7-376DCCC53996}"/>
              </a:ext>
            </a:extLst>
          </p:cNvPr>
          <p:cNvSpPr>
            <a:spLocks/>
          </p:cNvSpPr>
          <p:nvPr/>
        </p:nvSpPr>
        <p:spPr>
          <a:xfrm>
            <a:off x="8187362" y="4211004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6" name="Straight Arrow Connector 36">
            <a:extLst>
              <a:ext uri="{FF2B5EF4-FFF2-40B4-BE49-F238E27FC236}">
                <a16:creationId xmlns:a16="http://schemas.microsoft.com/office/drawing/2014/main" id="{623E8300-FB83-43A3-ADA1-86FEAEFBE345}"/>
              </a:ext>
            </a:extLst>
          </p:cNvPr>
          <p:cNvCxnSpPr>
            <a:stCxn id="24" idx="0"/>
            <a:endCxn id="25" idx="4"/>
          </p:cNvCxnSpPr>
          <p:nvPr/>
        </p:nvCxnSpPr>
        <p:spPr>
          <a:xfrm flipV="1">
            <a:off x="8370242" y="4576764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38">
            <a:extLst>
              <a:ext uri="{FF2B5EF4-FFF2-40B4-BE49-F238E27FC236}">
                <a16:creationId xmlns:a16="http://schemas.microsoft.com/office/drawing/2014/main" id="{0A01AADB-BEC1-4D2F-96B7-4400EC95393E}"/>
              </a:ext>
            </a:extLst>
          </p:cNvPr>
          <p:cNvSpPr>
            <a:spLocks/>
          </p:cNvSpPr>
          <p:nvPr/>
        </p:nvSpPr>
        <p:spPr>
          <a:xfrm>
            <a:off x="8899444" y="4211004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41">
            <a:extLst>
              <a:ext uri="{FF2B5EF4-FFF2-40B4-BE49-F238E27FC236}">
                <a16:creationId xmlns:a16="http://schemas.microsoft.com/office/drawing/2014/main" id="{679CB612-BA25-4799-A716-DD856BB8C250}"/>
              </a:ext>
            </a:extLst>
          </p:cNvPr>
          <p:cNvSpPr>
            <a:spLocks/>
          </p:cNvSpPr>
          <p:nvPr/>
        </p:nvSpPr>
        <p:spPr>
          <a:xfrm>
            <a:off x="9615880" y="4211004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42">
            <a:extLst>
              <a:ext uri="{FF2B5EF4-FFF2-40B4-BE49-F238E27FC236}">
                <a16:creationId xmlns:a16="http://schemas.microsoft.com/office/drawing/2014/main" id="{F63A1334-67F6-4B41-9159-11B96D604942}"/>
              </a:ext>
            </a:extLst>
          </p:cNvPr>
          <p:cNvSpPr>
            <a:spLocks/>
          </p:cNvSpPr>
          <p:nvPr/>
        </p:nvSpPr>
        <p:spPr>
          <a:xfrm>
            <a:off x="9615880" y="3479484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0" name="Straight Arrow Connector 43">
            <a:extLst>
              <a:ext uri="{FF2B5EF4-FFF2-40B4-BE49-F238E27FC236}">
                <a16:creationId xmlns:a16="http://schemas.microsoft.com/office/drawing/2014/main" id="{70F90F32-64E6-4909-820E-B65B97048FA4}"/>
              </a:ext>
            </a:extLst>
          </p:cNvPr>
          <p:cNvCxnSpPr/>
          <p:nvPr/>
        </p:nvCxnSpPr>
        <p:spPr>
          <a:xfrm flipV="1">
            <a:off x="9798760" y="3834767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44">
            <a:extLst>
              <a:ext uri="{FF2B5EF4-FFF2-40B4-BE49-F238E27FC236}">
                <a16:creationId xmlns:a16="http://schemas.microsoft.com/office/drawing/2014/main" id="{AE8149A6-B463-42BD-A798-F15574E690A6}"/>
              </a:ext>
            </a:extLst>
          </p:cNvPr>
          <p:cNvCxnSpPr>
            <a:stCxn id="25" idx="6"/>
            <a:endCxn id="27" idx="2"/>
          </p:cNvCxnSpPr>
          <p:nvPr/>
        </p:nvCxnSpPr>
        <p:spPr>
          <a:xfrm>
            <a:off x="8553122" y="4393884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45">
            <a:extLst>
              <a:ext uri="{FF2B5EF4-FFF2-40B4-BE49-F238E27FC236}">
                <a16:creationId xmlns:a16="http://schemas.microsoft.com/office/drawing/2014/main" id="{A809915A-0EF3-46A1-B63D-40B822B15E0C}"/>
              </a:ext>
            </a:extLst>
          </p:cNvPr>
          <p:cNvCxnSpPr/>
          <p:nvPr/>
        </p:nvCxnSpPr>
        <p:spPr>
          <a:xfrm>
            <a:off x="9265204" y="4376613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46">
            <a:extLst>
              <a:ext uri="{FF2B5EF4-FFF2-40B4-BE49-F238E27FC236}">
                <a16:creationId xmlns:a16="http://schemas.microsoft.com/office/drawing/2014/main" id="{BCD76201-0A68-42F8-9861-45E97FB7AE49}"/>
              </a:ext>
            </a:extLst>
          </p:cNvPr>
          <p:cNvSpPr>
            <a:spLocks/>
          </p:cNvSpPr>
          <p:nvPr/>
        </p:nvSpPr>
        <p:spPr>
          <a:xfrm>
            <a:off x="8899444" y="4986594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4" name="Straight Arrow Connector 47">
            <a:extLst>
              <a:ext uri="{FF2B5EF4-FFF2-40B4-BE49-F238E27FC236}">
                <a16:creationId xmlns:a16="http://schemas.microsoft.com/office/drawing/2014/main" id="{C0BD68E7-5A47-4761-9968-3B554BFCB660}"/>
              </a:ext>
            </a:extLst>
          </p:cNvPr>
          <p:cNvCxnSpPr>
            <a:stCxn id="33" idx="0"/>
          </p:cNvCxnSpPr>
          <p:nvPr/>
        </p:nvCxnSpPr>
        <p:spPr>
          <a:xfrm flipV="1">
            <a:off x="9082324" y="4576764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48">
            <a:extLst>
              <a:ext uri="{FF2B5EF4-FFF2-40B4-BE49-F238E27FC236}">
                <a16:creationId xmlns:a16="http://schemas.microsoft.com/office/drawing/2014/main" id="{FA075E94-6B81-4078-BEB8-EBC808DF3A58}"/>
              </a:ext>
            </a:extLst>
          </p:cNvPr>
          <p:cNvSpPr>
            <a:spLocks/>
          </p:cNvSpPr>
          <p:nvPr/>
        </p:nvSpPr>
        <p:spPr>
          <a:xfrm>
            <a:off x="9650169" y="4986594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6" name="Straight Arrow Connector 49">
            <a:extLst>
              <a:ext uri="{FF2B5EF4-FFF2-40B4-BE49-F238E27FC236}">
                <a16:creationId xmlns:a16="http://schemas.microsoft.com/office/drawing/2014/main" id="{A4B6319F-3A09-499A-8511-A898AE73C5C6}"/>
              </a:ext>
            </a:extLst>
          </p:cNvPr>
          <p:cNvCxnSpPr>
            <a:stCxn id="35" idx="0"/>
          </p:cNvCxnSpPr>
          <p:nvPr/>
        </p:nvCxnSpPr>
        <p:spPr>
          <a:xfrm flipV="1">
            <a:off x="9833049" y="4576764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0">
            <a:extLst>
              <a:ext uri="{FF2B5EF4-FFF2-40B4-BE49-F238E27FC236}">
                <a16:creationId xmlns:a16="http://schemas.microsoft.com/office/drawing/2014/main" id="{BCBA90D5-9AC9-4E05-B5CF-801FA97D3085}"/>
              </a:ext>
            </a:extLst>
          </p:cNvPr>
          <p:cNvSpPr txBox="1"/>
          <p:nvPr/>
        </p:nvSpPr>
        <p:spPr>
          <a:xfrm>
            <a:off x="7933733" y="5466408"/>
            <a:ext cx="326980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b="1" u="sng" dirty="0">
                <a:solidFill>
                  <a:srgbClr val="FF0000"/>
                </a:solidFill>
              </a:rPr>
              <a:t>MANY TO ONE  (SEQUENCE INPUT)</a:t>
            </a:r>
          </a:p>
          <a:p>
            <a:pPr algn="ctr"/>
            <a:r>
              <a:rPr lang="en-CA" sz="1400" b="1" u="sng" dirty="0">
                <a:solidFill>
                  <a:srgbClr val="FF0000"/>
                </a:solidFill>
              </a:rPr>
              <a:t>APPLICATION: SENTIMENT ANALYSIS, </a:t>
            </a:r>
          </a:p>
          <a:p>
            <a:pPr algn="ctr"/>
            <a:r>
              <a:rPr lang="en-CA" sz="1400" b="1" u="sng" dirty="0">
                <a:solidFill>
                  <a:srgbClr val="FF0000"/>
                </a:solidFill>
              </a:rPr>
              <a:t>EX: IS A REVIEW POSITIVE OR NEGATIVE? </a:t>
            </a:r>
          </a:p>
        </p:txBody>
      </p:sp>
      <p:sp>
        <p:nvSpPr>
          <p:cNvPr id="38" name="Oval 51">
            <a:extLst>
              <a:ext uri="{FF2B5EF4-FFF2-40B4-BE49-F238E27FC236}">
                <a16:creationId xmlns:a16="http://schemas.microsoft.com/office/drawing/2014/main" id="{A470BDF3-F289-417F-A498-561A6B2D6236}"/>
              </a:ext>
            </a:extLst>
          </p:cNvPr>
          <p:cNvSpPr>
            <a:spLocks/>
          </p:cNvSpPr>
          <p:nvPr/>
        </p:nvSpPr>
        <p:spPr>
          <a:xfrm>
            <a:off x="1424834" y="5489841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52">
            <a:extLst>
              <a:ext uri="{FF2B5EF4-FFF2-40B4-BE49-F238E27FC236}">
                <a16:creationId xmlns:a16="http://schemas.microsoft.com/office/drawing/2014/main" id="{CE79AB00-3200-49BA-9DBB-297181FF73D4}"/>
              </a:ext>
            </a:extLst>
          </p:cNvPr>
          <p:cNvSpPr>
            <a:spLocks/>
          </p:cNvSpPr>
          <p:nvPr/>
        </p:nvSpPr>
        <p:spPr>
          <a:xfrm>
            <a:off x="1424834" y="4714251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0" name="Straight Arrow Connector 53">
            <a:extLst>
              <a:ext uri="{FF2B5EF4-FFF2-40B4-BE49-F238E27FC236}">
                <a16:creationId xmlns:a16="http://schemas.microsoft.com/office/drawing/2014/main" id="{0B2CBB6A-A65C-47E8-BD35-BDEB62A4229B}"/>
              </a:ext>
            </a:extLst>
          </p:cNvPr>
          <p:cNvCxnSpPr>
            <a:stCxn id="38" idx="0"/>
            <a:endCxn id="39" idx="4"/>
          </p:cNvCxnSpPr>
          <p:nvPr/>
        </p:nvCxnSpPr>
        <p:spPr>
          <a:xfrm flipV="1">
            <a:off x="1607714" y="5080011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54">
            <a:extLst>
              <a:ext uri="{FF2B5EF4-FFF2-40B4-BE49-F238E27FC236}">
                <a16:creationId xmlns:a16="http://schemas.microsoft.com/office/drawing/2014/main" id="{319C8252-E74B-4DA0-8C6D-82B6312C55B5}"/>
              </a:ext>
            </a:extLst>
          </p:cNvPr>
          <p:cNvSpPr>
            <a:spLocks/>
          </p:cNvSpPr>
          <p:nvPr/>
        </p:nvSpPr>
        <p:spPr>
          <a:xfrm>
            <a:off x="2136916" y="4714251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Oval 55">
            <a:extLst>
              <a:ext uri="{FF2B5EF4-FFF2-40B4-BE49-F238E27FC236}">
                <a16:creationId xmlns:a16="http://schemas.microsoft.com/office/drawing/2014/main" id="{5C09E8F5-EB98-4EA9-BEB3-55E45F8D913A}"/>
              </a:ext>
            </a:extLst>
          </p:cNvPr>
          <p:cNvSpPr>
            <a:spLocks/>
          </p:cNvSpPr>
          <p:nvPr/>
        </p:nvSpPr>
        <p:spPr>
          <a:xfrm>
            <a:off x="2853352" y="4714251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Oval 56">
            <a:extLst>
              <a:ext uri="{FF2B5EF4-FFF2-40B4-BE49-F238E27FC236}">
                <a16:creationId xmlns:a16="http://schemas.microsoft.com/office/drawing/2014/main" id="{878C4D79-25D6-4EDD-89BA-5EEE05B8AD9C}"/>
              </a:ext>
            </a:extLst>
          </p:cNvPr>
          <p:cNvSpPr>
            <a:spLocks/>
          </p:cNvSpPr>
          <p:nvPr/>
        </p:nvSpPr>
        <p:spPr>
          <a:xfrm>
            <a:off x="2853352" y="3982731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4" name="Straight Arrow Connector 57">
            <a:extLst>
              <a:ext uri="{FF2B5EF4-FFF2-40B4-BE49-F238E27FC236}">
                <a16:creationId xmlns:a16="http://schemas.microsoft.com/office/drawing/2014/main" id="{EE297B13-C4F5-47B1-9066-A7BC4C571EDE}"/>
              </a:ext>
            </a:extLst>
          </p:cNvPr>
          <p:cNvCxnSpPr/>
          <p:nvPr/>
        </p:nvCxnSpPr>
        <p:spPr>
          <a:xfrm flipV="1">
            <a:off x="3036232" y="4338014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58">
            <a:extLst>
              <a:ext uri="{FF2B5EF4-FFF2-40B4-BE49-F238E27FC236}">
                <a16:creationId xmlns:a16="http://schemas.microsoft.com/office/drawing/2014/main" id="{2E1F2DC0-E64D-442C-A9D6-F2FA50C09DCC}"/>
              </a:ext>
            </a:extLst>
          </p:cNvPr>
          <p:cNvCxnSpPr>
            <a:stCxn id="39" idx="6"/>
            <a:endCxn id="41" idx="2"/>
          </p:cNvCxnSpPr>
          <p:nvPr/>
        </p:nvCxnSpPr>
        <p:spPr>
          <a:xfrm>
            <a:off x="1790594" y="4897131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59">
            <a:extLst>
              <a:ext uri="{FF2B5EF4-FFF2-40B4-BE49-F238E27FC236}">
                <a16:creationId xmlns:a16="http://schemas.microsoft.com/office/drawing/2014/main" id="{B0996FF0-9881-4B0D-975B-C35FD06A27DB}"/>
              </a:ext>
            </a:extLst>
          </p:cNvPr>
          <p:cNvCxnSpPr/>
          <p:nvPr/>
        </p:nvCxnSpPr>
        <p:spPr>
          <a:xfrm>
            <a:off x="2502676" y="4879860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60">
            <a:extLst>
              <a:ext uri="{FF2B5EF4-FFF2-40B4-BE49-F238E27FC236}">
                <a16:creationId xmlns:a16="http://schemas.microsoft.com/office/drawing/2014/main" id="{12859136-2CBB-4096-9FA7-24636534C6A9}"/>
              </a:ext>
            </a:extLst>
          </p:cNvPr>
          <p:cNvSpPr>
            <a:spLocks/>
          </p:cNvSpPr>
          <p:nvPr/>
        </p:nvSpPr>
        <p:spPr>
          <a:xfrm>
            <a:off x="2136916" y="5489841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8" name="Straight Arrow Connector 61">
            <a:extLst>
              <a:ext uri="{FF2B5EF4-FFF2-40B4-BE49-F238E27FC236}">
                <a16:creationId xmlns:a16="http://schemas.microsoft.com/office/drawing/2014/main" id="{3F08BE30-1F6C-4B7F-A762-25F850D35107}"/>
              </a:ext>
            </a:extLst>
          </p:cNvPr>
          <p:cNvCxnSpPr>
            <a:stCxn id="47" idx="0"/>
          </p:cNvCxnSpPr>
          <p:nvPr/>
        </p:nvCxnSpPr>
        <p:spPr>
          <a:xfrm flipV="1">
            <a:off x="2319796" y="5080011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62">
            <a:extLst>
              <a:ext uri="{FF2B5EF4-FFF2-40B4-BE49-F238E27FC236}">
                <a16:creationId xmlns:a16="http://schemas.microsoft.com/office/drawing/2014/main" id="{D4E367E9-FC61-4613-AB4C-EBC87A5B9C2D}"/>
              </a:ext>
            </a:extLst>
          </p:cNvPr>
          <p:cNvSpPr>
            <a:spLocks/>
          </p:cNvSpPr>
          <p:nvPr/>
        </p:nvSpPr>
        <p:spPr>
          <a:xfrm>
            <a:off x="2887641" y="5489841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0" name="Straight Arrow Connector 63">
            <a:extLst>
              <a:ext uri="{FF2B5EF4-FFF2-40B4-BE49-F238E27FC236}">
                <a16:creationId xmlns:a16="http://schemas.microsoft.com/office/drawing/2014/main" id="{E83F0F5E-A188-424C-A4C0-CD85F6DBA2EB}"/>
              </a:ext>
            </a:extLst>
          </p:cNvPr>
          <p:cNvCxnSpPr>
            <a:stCxn id="49" idx="0"/>
          </p:cNvCxnSpPr>
          <p:nvPr/>
        </p:nvCxnSpPr>
        <p:spPr>
          <a:xfrm flipV="1">
            <a:off x="3070521" y="5080011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64">
            <a:extLst>
              <a:ext uri="{FF2B5EF4-FFF2-40B4-BE49-F238E27FC236}">
                <a16:creationId xmlns:a16="http://schemas.microsoft.com/office/drawing/2014/main" id="{68F22027-5F7B-4B6D-8754-760BC42D87D3}"/>
              </a:ext>
            </a:extLst>
          </p:cNvPr>
          <p:cNvSpPr txBox="1"/>
          <p:nvPr/>
        </p:nvSpPr>
        <p:spPr>
          <a:xfrm>
            <a:off x="838200" y="5969655"/>
            <a:ext cx="3935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b="1" u="sng" dirty="0">
                <a:solidFill>
                  <a:srgbClr val="FF0000"/>
                </a:solidFill>
              </a:rPr>
              <a:t>MANY TO MANY (SEQUENCE INPUT AND OUTPUT)</a:t>
            </a:r>
          </a:p>
          <a:p>
            <a:pPr algn="ctr"/>
            <a:r>
              <a:rPr lang="en-CA" sz="1400" b="1" u="sng" dirty="0">
                <a:solidFill>
                  <a:srgbClr val="FF0000"/>
                </a:solidFill>
              </a:rPr>
              <a:t>APPLICATION: LANGUAGE TRANSLATION, </a:t>
            </a:r>
          </a:p>
        </p:txBody>
      </p:sp>
      <p:sp>
        <p:nvSpPr>
          <p:cNvPr id="52" name="Oval 65">
            <a:extLst>
              <a:ext uri="{FF2B5EF4-FFF2-40B4-BE49-F238E27FC236}">
                <a16:creationId xmlns:a16="http://schemas.microsoft.com/office/drawing/2014/main" id="{F023AFFE-B053-443C-87E9-BEBAF900A47E}"/>
              </a:ext>
            </a:extLst>
          </p:cNvPr>
          <p:cNvSpPr>
            <a:spLocks/>
          </p:cNvSpPr>
          <p:nvPr/>
        </p:nvSpPr>
        <p:spPr>
          <a:xfrm>
            <a:off x="3538564" y="4714251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Oval 66">
            <a:extLst>
              <a:ext uri="{FF2B5EF4-FFF2-40B4-BE49-F238E27FC236}">
                <a16:creationId xmlns:a16="http://schemas.microsoft.com/office/drawing/2014/main" id="{C55363FC-A184-43E3-8979-65ED989E3EC6}"/>
              </a:ext>
            </a:extLst>
          </p:cNvPr>
          <p:cNvSpPr>
            <a:spLocks/>
          </p:cNvSpPr>
          <p:nvPr/>
        </p:nvSpPr>
        <p:spPr>
          <a:xfrm>
            <a:off x="3538564" y="3982731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4" name="Straight Arrow Connector 67">
            <a:extLst>
              <a:ext uri="{FF2B5EF4-FFF2-40B4-BE49-F238E27FC236}">
                <a16:creationId xmlns:a16="http://schemas.microsoft.com/office/drawing/2014/main" id="{424813DB-6FE8-4922-8C2C-622B06EE1BC8}"/>
              </a:ext>
            </a:extLst>
          </p:cNvPr>
          <p:cNvCxnSpPr/>
          <p:nvPr/>
        </p:nvCxnSpPr>
        <p:spPr>
          <a:xfrm flipV="1">
            <a:off x="3755733" y="4338014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68">
            <a:extLst>
              <a:ext uri="{FF2B5EF4-FFF2-40B4-BE49-F238E27FC236}">
                <a16:creationId xmlns:a16="http://schemas.microsoft.com/office/drawing/2014/main" id="{9DEC84A7-2E2B-497B-A28B-9F455D1736EA}"/>
              </a:ext>
            </a:extLst>
          </p:cNvPr>
          <p:cNvSpPr>
            <a:spLocks/>
          </p:cNvSpPr>
          <p:nvPr/>
        </p:nvSpPr>
        <p:spPr>
          <a:xfrm>
            <a:off x="3572853" y="5489841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6" name="Straight Arrow Connector 69">
            <a:extLst>
              <a:ext uri="{FF2B5EF4-FFF2-40B4-BE49-F238E27FC236}">
                <a16:creationId xmlns:a16="http://schemas.microsoft.com/office/drawing/2014/main" id="{DB66BE1D-5798-4AE1-AC74-85675DEA5939}"/>
              </a:ext>
            </a:extLst>
          </p:cNvPr>
          <p:cNvCxnSpPr>
            <a:stCxn id="55" idx="0"/>
          </p:cNvCxnSpPr>
          <p:nvPr/>
        </p:nvCxnSpPr>
        <p:spPr>
          <a:xfrm flipV="1">
            <a:off x="3755733" y="5080011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70">
            <a:extLst>
              <a:ext uri="{FF2B5EF4-FFF2-40B4-BE49-F238E27FC236}">
                <a16:creationId xmlns:a16="http://schemas.microsoft.com/office/drawing/2014/main" id="{A7D8DA88-BE3D-47FF-B814-4FD47BF89057}"/>
              </a:ext>
            </a:extLst>
          </p:cNvPr>
          <p:cNvCxnSpPr/>
          <p:nvPr/>
        </p:nvCxnSpPr>
        <p:spPr>
          <a:xfrm>
            <a:off x="3219112" y="4897131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7">
            <a:extLst>
              <a:ext uri="{FF2B5EF4-FFF2-40B4-BE49-F238E27FC236}">
                <a16:creationId xmlns:a16="http://schemas.microsoft.com/office/drawing/2014/main" id="{2BE2A92D-EBBB-42FE-A4F1-CB3E740FC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595" y="4682212"/>
            <a:ext cx="2464610" cy="126827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59" name="Picture 2" descr="Grey and White Short Fur Cat">
            <a:extLst>
              <a:ext uri="{FF2B5EF4-FFF2-40B4-BE49-F238E27FC236}">
                <a16:creationId xmlns:a16="http://schemas.microsoft.com/office/drawing/2014/main" id="{A828C687-771F-4049-B191-07F037C70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054" y="2947235"/>
            <a:ext cx="933570" cy="62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74">
            <a:extLst>
              <a:ext uri="{FF2B5EF4-FFF2-40B4-BE49-F238E27FC236}">
                <a16:creationId xmlns:a16="http://schemas.microsoft.com/office/drawing/2014/main" id="{5C6FC420-ECC5-44D0-A660-48F646845FE5}"/>
              </a:ext>
            </a:extLst>
          </p:cNvPr>
          <p:cNvSpPr txBox="1"/>
          <p:nvPr/>
        </p:nvSpPr>
        <p:spPr>
          <a:xfrm>
            <a:off x="1299974" y="1643038"/>
            <a:ext cx="1172950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A" sz="1400" b="1" dirty="0">
                <a:solidFill>
                  <a:srgbClr val="FF0000"/>
                </a:solidFill>
              </a:rPr>
              <a:t>OUTPUT: CAT</a:t>
            </a:r>
          </a:p>
        </p:txBody>
      </p:sp>
      <p:pic>
        <p:nvPicPr>
          <p:cNvPr id="61" name="Picture 2" descr="Grey and White Short Fur Cat">
            <a:extLst>
              <a:ext uri="{FF2B5EF4-FFF2-40B4-BE49-F238E27FC236}">
                <a16:creationId xmlns:a16="http://schemas.microsoft.com/office/drawing/2014/main" id="{2295C85E-25C3-451C-9176-C5D475695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844" y="3027804"/>
            <a:ext cx="933570" cy="62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76">
            <a:extLst>
              <a:ext uri="{FF2B5EF4-FFF2-40B4-BE49-F238E27FC236}">
                <a16:creationId xmlns:a16="http://schemas.microsoft.com/office/drawing/2014/main" id="{0735DC53-4DE3-4157-991F-BF1C3B154F66}"/>
              </a:ext>
            </a:extLst>
          </p:cNvPr>
          <p:cNvSpPr txBox="1"/>
          <p:nvPr/>
        </p:nvSpPr>
        <p:spPr>
          <a:xfrm>
            <a:off x="7080799" y="1544771"/>
            <a:ext cx="1645484" cy="738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solidFill>
                  <a:srgbClr val="FF0000"/>
                </a:solidFill>
              </a:rPr>
              <a:t>OUTPUT: </a:t>
            </a:r>
          </a:p>
          <a:p>
            <a:pPr algn="ctr"/>
            <a:r>
              <a:rPr lang="en-CA" sz="1400" b="1" dirty="0">
                <a:solidFill>
                  <a:srgbClr val="FF0000"/>
                </a:solidFill>
              </a:rPr>
              <a:t>CUTE GRAY AND WHITE CAT </a:t>
            </a:r>
          </a:p>
        </p:txBody>
      </p:sp>
      <p:sp>
        <p:nvSpPr>
          <p:cNvPr id="63" name="TextBox 77">
            <a:extLst>
              <a:ext uri="{FF2B5EF4-FFF2-40B4-BE49-F238E27FC236}">
                <a16:creationId xmlns:a16="http://schemas.microsoft.com/office/drawing/2014/main" id="{31ABE4DA-26FB-4657-A72D-DD2F0466A65A}"/>
              </a:ext>
            </a:extLst>
          </p:cNvPr>
          <p:cNvSpPr txBox="1"/>
          <p:nvPr/>
        </p:nvSpPr>
        <p:spPr>
          <a:xfrm>
            <a:off x="10049823" y="4613690"/>
            <a:ext cx="1645484" cy="73866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solidFill>
                  <a:srgbClr val="FF0000"/>
                </a:solidFill>
              </a:rPr>
              <a:t>INPUT: I AM REALLY ENJOYING THIS COURSE!</a:t>
            </a:r>
          </a:p>
        </p:txBody>
      </p:sp>
      <p:sp>
        <p:nvSpPr>
          <p:cNvPr id="64" name="TextBox 78">
            <a:extLst>
              <a:ext uri="{FF2B5EF4-FFF2-40B4-BE49-F238E27FC236}">
                <a16:creationId xmlns:a16="http://schemas.microsoft.com/office/drawing/2014/main" id="{9E0334A6-98A7-43C4-BB80-52000C0EF8C3}"/>
              </a:ext>
            </a:extLst>
          </p:cNvPr>
          <p:cNvSpPr txBox="1"/>
          <p:nvPr/>
        </p:nvSpPr>
        <p:spPr>
          <a:xfrm>
            <a:off x="10032679" y="3523469"/>
            <a:ext cx="1645484" cy="30777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solidFill>
                  <a:srgbClr val="FF0000"/>
                </a:solidFill>
              </a:rPr>
              <a:t>OUTPUT: 1</a:t>
            </a:r>
          </a:p>
        </p:txBody>
      </p:sp>
      <p:sp>
        <p:nvSpPr>
          <p:cNvPr id="65" name="Rectangle 1">
            <a:extLst>
              <a:ext uri="{FF2B5EF4-FFF2-40B4-BE49-F238E27FC236}">
                <a16:creationId xmlns:a16="http://schemas.microsoft.com/office/drawing/2014/main" id="{DA9FA8B9-082E-453A-A854-931ED2C4F14D}"/>
              </a:ext>
            </a:extLst>
          </p:cNvPr>
          <p:cNvSpPr/>
          <p:nvPr/>
        </p:nvSpPr>
        <p:spPr>
          <a:xfrm>
            <a:off x="4700074" y="6382234"/>
            <a:ext cx="97371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Photo Credit: </a:t>
            </a:r>
            <a:r>
              <a:rPr lang="en-CA" sz="1200" dirty="0">
                <a:hlinkClick r:id="rId4"/>
              </a:rPr>
              <a:t>https://fr.wikipedia.org/wiki/Fichier:Recurrent_neural_network_unfold.svg</a:t>
            </a:r>
            <a:endParaRPr lang="en-CA" sz="1200" dirty="0"/>
          </a:p>
          <a:p>
            <a:endParaRPr lang="en-CA" sz="1200" dirty="0"/>
          </a:p>
        </p:txBody>
      </p:sp>
      <p:pic>
        <p:nvPicPr>
          <p:cNvPr id="66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840E67B7-2EF0-4899-8D77-8272226EF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7012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5" grpId="0"/>
      <p:bldP spid="16" grpId="0" animBg="1"/>
      <p:bldP spid="17" grpId="0" animBg="1"/>
      <p:bldP spid="19" grpId="0" animBg="1"/>
      <p:bldP spid="20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3" grpId="0" animBg="1"/>
      <p:bldP spid="35" grpId="0" animBg="1"/>
      <p:bldP spid="37" grpId="0"/>
      <p:bldP spid="38" grpId="0" animBg="1"/>
      <p:bldP spid="39" grpId="0" animBg="1"/>
      <p:bldP spid="41" grpId="0" animBg="1"/>
      <p:bldP spid="42" grpId="0" animBg="1"/>
      <p:bldP spid="43" grpId="0" animBg="1"/>
      <p:bldP spid="47" grpId="0" animBg="1"/>
      <p:bldP spid="49" grpId="0" animBg="1"/>
      <p:bldP spid="51" grpId="0"/>
      <p:bldP spid="52" grpId="0" animBg="1"/>
      <p:bldP spid="53" grpId="0" animBg="1"/>
      <p:bldP spid="55" grpId="0" animBg="1"/>
      <p:bldP spid="60" grpId="0" animBg="1"/>
      <p:bldP spid="62" grpId="0" animBg="1"/>
      <p:bldP spid="63" grpId="0" animBg="1"/>
      <p:bldP spid="6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4D429-5972-406E-9E92-41ED40F8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RECURRENT NEURAL NETWORK MATH</a:t>
            </a:r>
            <a:endParaRPr lang="es-C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C5156B-10F2-474B-BEED-4603C252A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15227632-D52B-4624-8B6A-98BAF69A5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24421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FA24D3B-9641-42D8-B030-66886F61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RNN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6">
                <a:extLst>
                  <a:ext uri="{FF2B5EF4-FFF2-40B4-BE49-F238E27FC236}">
                    <a16:creationId xmlns:a16="http://schemas.microsoft.com/office/drawing/2014/main" id="{C437CDB6-B822-48D9-926B-ED2A9F21DE6E}"/>
                  </a:ext>
                </a:extLst>
              </p:cNvPr>
              <p:cNvSpPr/>
              <p:nvPr/>
            </p:nvSpPr>
            <p:spPr>
              <a:xfrm>
                <a:off x="697903" y="1509713"/>
                <a:ext cx="10515601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sz="2000" dirty="0">
                    <a:latin typeface="medium-content-serif-font"/>
                  </a:rPr>
                  <a:t>A RNN accepts an input x and generate an output 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sz="2000" dirty="0">
                    <a:latin typeface="medium-content-serif-font"/>
                  </a:rPr>
                  <a:t>The output o does not depend on the input x alone, however, it depends on the entire history of the inputs that have been fed to the network in previous time steps.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sz="2000" dirty="0">
                    <a:latin typeface="medium-content-serif-font"/>
                  </a:rPr>
                  <a:t>Two equations that govern the RNN are as follows:	</a:t>
                </a:r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en-CA" sz="2000" b="1" u="sng" dirty="0">
                    <a:latin typeface="medium-content-serif-font"/>
                  </a:rPr>
                  <a:t>INTERNAL STATE UPDATE: </a:t>
                </a:r>
                <a:endParaRPr lang="en-CA" sz="2800" b="1" i="1" u="sng" dirty="0">
                  <a:latin typeface="Cambria Math" panose="02040503050406030204" pitchFamily="18" charset="0"/>
                </a:endParaRPr>
              </a:p>
              <a:p>
                <a:pPr lvl="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28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CA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8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CA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A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CA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sz="2800" dirty="0">
                  <a:latin typeface="medium-content-serif-font"/>
                </a:endParaRPr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en-CA" sz="2000" b="1" u="sng" dirty="0">
                    <a:latin typeface="medium-content-serif-font"/>
                  </a:rPr>
                  <a:t>OUTPUT UPDATE:</a:t>
                </a:r>
              </a:p>
              <a:p>
                <a:pPr lvl="3"/>
                <a:r>
                  <a:rPr lang="en-CA" sz="2000" dirty="0">
                    <a:latin typeface="medium-content-serif-font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800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∗ 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2800" dirty="0">
                  <a:latin typeface="medium-content-serif-fon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CA" sz="2000" dirty="0">
                  <a:latin typeface="medium-content-serif-fon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CA" sz="2000" dirty="0">
                  <a:latin typeface="medium-content-serif-font"/>
                </a:endParaRPr>
              </a:p>
            </p:txBody>
          </p:sp>
        </mc:Choice>
        <mc:Fallback xmlns="">
          <p:sp>
            <p:nvSpPr>
              <p:cNvPr id="6" name="Rectangle 16">
                <a:extLst>
                  <a:ext uri="{FF2B5EF4-FFF2-40B4-BE49-F238E27FC236}">
                    <a16:creationId xmlns:a16="http://schemas.microsoft.com/office/drawing/2014/main" id="{C437CDB6-B822-48D9-926B-ED2A9F21DE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03" y="1509713"/>
                <a:ext cx="10515601" cy="3416320"/>
              </a:xfrm>
              <a:prstGeom prst="rect">
                <a:avLst/>
              </a:prstGeom>
              <a:blipFill>
                <a:blip r:embed="rId2"/>
                <a:stretch>
                  <a:fillRect l="-522" t="-1071" r="-406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Fichier:Recurrent neural network unfold.svg">
            <a:extLst>
              <a:ext uri="{FF2B5EF4-FFF2-40B4-BE49-F238E27FC236}">
                <a16:creationId xmlns:a16="http://schemas.microsoft.com/office/drawing/2014/main" id="{ECAA8A39-4EB8-423A-9BE4-51BE49762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119" y="4118732"/>
            <a:ext cx="7805168" cy="26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493D870-95D1-40E8-A74E-0EE9858496BE}"/>
              </a:ext>
            </a:extLst>
          </p:cNvPr>
          <p:cNvSpPr/>
          <p:nvPr/>
        </p:nvSpPr>
        <p:spPr>
          <a:xfrm>
            <a:off x="261460" y="6492875"/>
            <a:ext cx="97371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Photo Credit: </a:t>
            </a:r>
            <a:r>
              <a:rPr lang="en-CA" sz="1200" dirty="0">
                <a:hlinkClick r:id="rId4"/>
              </a:rPr>
              <a:t>https://fr.wikipedia.org/wiki/Fichier:Recurrent_neural_network_unfold.svg</a:t>
            </a:r>
            <a:endParaRPr lang="en-CA" sz="1200" dirty="0"/>
          </a:p>
          <a:p>
            <a:endParaRPr lang="en-CA" sz="1200" dirty="0"/>
          </a:p>
        </p:txBody>
      </p:sp>
      <p:pic>
        <p:nvPicPr>
          <p:cNvPr id="9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65CD836C-0B5C-44E6-B69E-7D7A30043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07300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5CAFF-319A-4756-B140-E5FF044D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HAVE SOME FUN WITH RECURRENT NEURAL NETWORKS! =)</a:t>
            </a:r>
            <a:endParaRPr lang="es-C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1F5842-7BB6-45DC-B025-1BDFB2818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FD6E2214-9551-403D-9857-FDB7A8023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41834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FDABBF2-7A8A-4A67-8B4C-868F6E76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WATCH THIS MOVIE WRITTEN BY AN RNN!</a:t>
            </a:r>
            <a:endParaRPr lang="es-CR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4E89664-1027-471B-BFB9-B5151925A053}"/>
              </a:ext>
            </a:extLst>
          </p:cNvPr>
          <p:cNvSpPr/>
          <p:nvPr/>
        </p:nvSpPr>
        <p:spPr>
          <a:xfrm>
            <a:off x="740934" y="1690062"/>
            <a:ext cx="553442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Let’s watch a movie written by AI!</a:t>
            </a:r>
          </a:p>
          <a:p>
            <a:r>
              <a:rPr lang="en-CA" sz="2000" dirty="0">
                <a:hlinkClick r:id="rId2"/>
              </a:rPr>
              <a:t>https://arstechnica.com/gaming/2016/06/an-ai-wrote-this-movie-and-its-strangely-moving/</a:t>
            </a:r>
            <a:endParaRPr lang="en-CA" sz="2000" dirty="0"/>
          </a:p>
          <a:p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The movie was written by an LSTM recurrent neural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The LSTM network was trained with a corpus of dozens of sci-fi screenplays from movies from the 1980s and 90s.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F2D79610-754D-4828-A35A-DB41BE30C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624" y="1347004"/>
            <a:ext cx="5621293" cy="485807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E95D1ED-BB2F-4C3E-92C7-5DDC4E431342}"/>
              </a:ext>
            </a:extLst>
          </p:cNvPr>
          <p:cNvSpPr/>
          <p:nvPr/>
        </p:nvSpPr>
        <p:spPr>
          <a:xfrm>
            <a:off x="2916195" y="6242612"/>
            <a:ext cx="97371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Photo Credit: </a:t>
            </a:r>
            <a:r>
              <a:rPr lang="en-CA" sz="1200" dirty="0">
                <a:hlinkClick r:id="rId4"/>
              </a:rPr>
              <a:t>https://fr.wikipedia.org/wiki/Fichier:Recurrent_neural_network_unfold.svg</a:t>
            </a:r>
            <a:endParaRPr lang="en-CA" sz="1200" dirty="0"/>
          </a:p>
          <a:p>
            <a:endParaRPr lang="en-CA" sz="1200" dirty="0"/>
          </a:p>
        </p:txBody>
      </p:sp>
      <p:pic>
        <p:nvPicPr>
          <p:cNvPr id="10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59C23482-B05B-4BD2-8257-EFE407A11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41403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7D3C0-DE6C-4995-A4EE-9A32A578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GRADIENT PROBLEM</a:t>
            </a:r>
            <a:endParaRPr lang="es-C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E83CD8-4C01-4D9B-BEF1-A59D4E913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pic>
        <p:nvPicPr>
          <p:cNvPr id="6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4366C224-E5FA-481A-AA08-46D3426E8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98292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EC36DF7-AD26-4F69-AA2E-7493AFBF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VANISHING GRADIENT PROBLEM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7BC2E4A-DFD1-4766-ACC7-43DBE3E396A5}"/>
              </a:ext>
            </a:extLst>
          </p:cNvPr>
          <p:cNvSpPr/>
          <p:nvPr/>
        </p:nvSpPr>
        <p:spPr>
          <a:xfrm>
            <a:off x="375173" y="1490008"/>
            <a:ext cx="119633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LSTM networks work much better compared to vanilla RNN since they overcome the vanishing gradient problem.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The error has to propagate through all the previous layers resulting in a vanishing gradient.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As the gradient goes smaller, the network weights are no longer updated.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As more layers are added, the gradients of the loss function approaches zero, making the network hard to train.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13B3843-17AB-4D14-B862-47195201E379}"/>
              </a:ext>
            </a:extLst>
          </p:cNvPr>
          <p:cNvSpPr/>
          <p:nvPr/>
        </p:nvSpPr>
        <p:spPr>
          <a:xfrm>
            <a:off x="2601448" y="6467505"/>
            <a:ext cx="97371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Photo Credit: </a:t>
            </a:r>
            <a:r>
              <a:rPr lang="en-CA" sz="1200" dirty="0">
                <a:hlinkClick r:id="rId2"/>
              </a:rPr>
              <a:t>https://fr.wikipedia.org/wiki/Fichier:Recurrent_neural_network_unfold.svg</a:t>
            </a:r>
            <a:endParaRPr lang="en-CA" sz="1200" dirty="0"/>
          </a:p>
          <a:p>
            <a:endParaRPr lang="en-CA" sz="1200" dirty="0"/>
          </a:p>
        </p:txBody>
      </p:sp>
      <p:pic>
        <p:nvPicPr>
          <p:cNvPr id="8" name="Picture 2" descr="Fichier:Recurrent neural network unfold.svg">
            <a:extLst>
              <a:ext uri="{FF2B5EF4-FFF2-40B4-BE49-F238E27FC236}">
                <a16:creationId xmlns:a16="http://schemas.microsoft.com/office/drawing/2014/main" id="{81D77D7D-1A2C-48C6-8E0E-E10C1EBC89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44"/>
          <a:stretch/>
        </p:blipFill>
        <p:spPr bwMode="auto">
          <a:xfrm>
            <a:off x="5925578" y="3429000"/>
            <a:ext cx="6109529" cy="350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951461-FD4E-4C75-A446-722A1A127C03}"/>
              </a:ext>
            </a:extLst>
          </p:cNvPr>
          <p:cNvSpPr txBox="1"/>
          <p:nvPr/>
        </p:nvSpPr>
        <p:spPr>
          <a:xfrm>
            <a:off x="1635215" y="3528864"/>
            <a:ext cx="4150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EACH LAYER DEPENDS ON THE OUTPUT FROM THE PREVIOUS LAYERS, THE “V” IS MULTIPLIED SEVERAL TIMES RESULTING IN VANISHING GRADIENT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423CAC47-5F56-45F7-A57C-46A860DDE2F3}"/>
              </a:ext>
            </a:extLst>
          </p:cNvPr>
          <p:cNvSpPr txBox="1"/>
          <p:nvPr/>
        </p:nvSpPr>
        <p:spPr>
          <a:xfrm>
            <a:off x="1233635" y="5157187"/>
            <a:ext cx="4150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0.1 * 0.1 * 0.1 *…..*0.1 =1e-10 </a:t>
            </a:r>
          </a:p>
        </p:txBody>
      </p:sp>
      <p:pic>
        <p:nvPicPr>
          <p:cNvPr id="11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F39DA12B-5674-4C7D-ABFF-FE9BA0306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7767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5C91B-E13C-4DB7-B668-E38B5A390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GRADIENT PROBLEM</a:t>
            </a:r>
            <a:endParaRPr lang="es-C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C80D7A-5D4C-4E60-80E7-0F3861EC2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277"/>
            <a:ext cx="10515600" cy="196274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900" dirty="0"/>
              <a:t>ANN gradients are calculated during backpropagation.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In backpropagation, we calculate the derivatives of the network by moving from the outermost layer (close to output) back to the initial layers (close to inputs).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The chain rule is used during this calculation in which the derivatives from the final layers are multiplied by the derivatives from early layers. 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The gradients keeps diminishing exponentially and therefore the weights and biases are no longer being updated. </a:t>
            </a:r>
          </a:p>
          <a:p>
            <a:endParaRPr lang="es-CR" dirty="0"/>
          </a:p>
        </p:txBody>
      </p:sp>
      <p:pic>
        <p:nvPicPr>
          <p:cNvPr id="4" name="Picture 2" descr="Fichier:Recurrent neural network unfold.svg">
            <a:extLst>
              <a:ext uri="{FF2B5EF4-FFF2-40B4-BE49-F238E27FC236}">
                <a16:creationId xmlns:a16="http://schemas.microsoft.com/office/drawing/2014/main" id="{22F71739-6480-4474-B90F-958E207ED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44"/>
          <a:stretch/>
        </p:blipFill>
        <p:spPr bwMode="auto">
          <a:xfrm>
            <a:off x="6367197" y="3429000"/>
            <a:ext cx="6109529" cy="350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C28B64F9-1CED-4391-B684-32BDB7B54ED8}"/>
              </a:ext>
            </a:extLst>
          </p:cNvPr>
          <p:cNvSpPr txBox="1"/>
          <p:nvPr/>
        </p:nvSpPr>
        <p:spPr>
          <a:xfrm>
            <a:off x="1833109" y="3696290"/>
            <a:ext cx="4150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EACH LAYER DEPENDS ON THE OUTPUT FROM THE PREVIOUS LAYERS, THE “V” IS MULTIPLIED SEVERAL TIMES RESULTING IN VANISHING GRADIENT, (ex: 0.1 * 0.1 * 0.1 *…..*0.1 =1e-10)</a:t>
            </a: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25206BD3-B818-47FB-911B-738D935321BB}"/>
              </a:ext>
            </a:extLst>
          </p:cNvPr>
          <p:cNvSpPr txBox="1"/>
          <p:nvPr/>
        </p:nvSpPr>
        <p:spPr>
          <a:xfrm>
            <a:off x="440546" y="5474026"/>
            <a:ext cx="69354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New Weight = Old Weight – Learning rate * gradient</a:t>
            </a:r>
          </a:p>
          <a:p>
            <a:r>
              <a:rPr lang="en-CA" sz="2400" b="1" dirty="0">
                <a:solidFill>
                  <a:srgbClr val="FF0000"/>
                </a:solidFill>
              </a:rPr>
              <a:t>9.09999         = 10.1              – 1 * 0.001</a:t>
            </a:r>
          </a:p>
        </p:txBody>
      </p:sp>
      <p:pic>
        <p:nvPicPr>
          <p:cNvPr id="7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E732D8E4-E770-419C-BDCB-36109A89D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04067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D0ECF-4711-49DB-9C3D-8BEE6CF8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GRADIENT DESCENT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AC7BE3-20CD-4C3A-A6F7-585AE898F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97762" cy="435133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400" dirty="0"/>
              <a:t>Gradient descent is an optimization algorithm used to obtain the optimized network weight and bias values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400" dirty="0"/>
              <a:t>It works by iteratively trying to minimize the cost function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400" dirty="0"/>
              <a:t>It works by calculating the gradient of the cost function and moving in the negative direction until the local/global minimum is achieved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400" dirty="0"/>
              <a:t>If the positive of the gradient is taken, local/global maximum is achieved</a:t>
            </a:r>
          </a:p>
          <a:p>
            <a:endParaRPr lang="es-CR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5514CC7-E3B9-4285-AEE8-303178975EBA}"/>
              </a:ext>
            </a:extLst>
          </p:cNvPr>
          <p:cNvSpPr/>
          <p:nvPr/>
        </p:nvSpPr>
        <p:spPr>
          <a:xfrm>
            <a:off x="1650224" y="5585639"/>
            <a:ext cx="668830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400" b="1" dirty="0"/>
              <a:t>Photo Credit: </a:t>
            </a:r>
            <a:r>
              <a:rPr lang="en-CA" sz="1400" dirty="0">
                <a:hlinkClick r:id="rId2"/>
              </a:rPr>
              <a:t>https://commons.wikimedia.org/wiki/File:Gradient_descent_method.png</a:t>
            </a:r>
            <a:endParaRPr lang="en-CA" sz="1400" dirty="0"/>
          </a:p>
          <a:p>
            <a:r>
              <a:rPr lang="en-CA" sz="1400" b="1" dirty="0"/>
              <a:t>Photo Credit: </a:t>
            </a:r>
            <a:r>
              <a:rPr lang="en-CA" sz="1400" dirty="0">
                <a:hlinkClick r:id="rId3"/>
              </a:rPr>
              <a:t>https://commons.wikimedia.org/wiki/File:Gradient_descent.png</a:t>
            </a:r>
            <a:endParaRPr lang="en-CA" sz="1400" dirty="0"/>
          </a:p>
          <a:p>
            <a:endParaRPr lang="en-CA" sz="1400" dirty="0"/>
          </a:p>
        </p:txBody>
      </p:sp>
      <p:pic>
        <p:nvPicPr>
          <p:cNvPr id="5" name="Picture 2" descr="File:Gradient descent method.png">
            <a:extLst>
              <a:ext uri="{FF2B5EF4-FFF2-40B4-BE49-F238E27FC236}">
                <a16:creationId xmlns:a16="http://schemas.microsoft.com/office/drawing/2014/main" id="{ABB30F36-BCE0-44D5-B7F4-02D395C51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54" y="1409518"/>
            <a:ext cx="3213046" cy="2228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 result for gradient descent">
            <a:extLst>
              <a:ext uri="{FF2B5EF4-FFF2-40B4-BE49-F238E27FC236}">
                <a16:creationId xmlns:a16="http://schemas.microsoft.com/office/drawing/2014/main" id="{9D2AE5E9-4581-4432-8231-BA4505CCA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675" y="3862090"/>
            <a:ext cx="2109203" cy="231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7F3402BE-19F3-4798-818F-6D8664FD9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3274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CE5E7-8088-4568-9E70-81CACBE8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LEARNING RATE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F5F2F1-5139-4B28-9CF4-2B361028E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dirty="0"/>
              <a:t>The size of the steps taken are called the learning rate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dirty="0"/>
              <a:t>If learning rate increases, the area covered in the search space will increase so we might reach global minimum faster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dirty="0"/>
              <a:t>However, we can overshoot the target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dirty="0"/>
              <a:t>For small learning rates, training will take much longer to reach optimized weight values</a:t>
            </a:r>
          </a:p>
          <a:p>
            <a:endParaRPr lang="es-CR" dirty="0"/>
          </a:p>
        </p:txBody>
      </p:sp>
      <p:pic>
        <p:nvPicPr>
          <p:cNvPr id="4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13641398-F6BA-4C87-ACED-B8A3BEC6D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97209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0CDCF-C900-4B5F-B1B2-45398A63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25EFCAF-2F05-4437-B3D0-58E0936F1D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1364" y="1522826"/>
                <a:ext cx="7022941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CA" sz="2000" dirty="0"/>
                  <a:t>Gradient descent works as follows:</a:t>
                </a:r>
              </a:p>
              <a:p>
                <a:pPr marL="457200" indent="-457200" algn="l">
                  <a:buAutoNum type="arabicPeriod"/>
                </a:pPr>
                <a:r>
                  <a:rPr lang="en-CA" sz="2000" dirty="0"/>
                  <a:t>Calculate the derivative (gradient) of the Loss function</a:t>
                </a:r>
              </a:p>
              <a:p>
                <a:pPr marL="457200" indent="-457200" algn="l">
                  <a:buAutoNum type="arabicPeriod"/>
                </a:pPr>
                <a:r>
                  <a:rPr lang="en-CA" sz="2000" dirty="0"/>
                  <a:t>Pick random values for parameters m, b and substitute </a:t>
                </a:r>
              </a:p>
              <a:p>
                <a:pPr marL="457200" indent="-457200" algn="l">
                  <a:buAutoNum type="arabicPeriod"/>
                </a:pPr>
                <a:r>
                  <a:rPr lang="en-CA" sz="2000" dirty="0"/>
                  <a:t>Calculate the step size (how much are we going to update the parameters?) </a:t>
                </a:r>
              </a:p>
              <a:p>
                <a:pPr algn="l"/>
                <a:r>
                  <a:rPr lang="en-CA" sz="2000" dirty="0"/>
                  <a:t>			</a:t>
                </a:r>
                <a14:m>
                  <m:oMath xmlns:m="http://schemas.openxmlformats.org/officeDocument/2006/math">
                    <m:r>
                      <a:rPr lang="en-CA" sz="2000" i="1" dirty="0">
                        <a:latin typeface="Cambria Math" panose="02040503050406030204" pitchFamily="18" charset="0"/>
                      </a:rPr>
                      <m:t>𝑆𝑡𝑒𝑝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𝑆𝑙𝑜𝑝𝑒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𝑙𝑒𝑎𝑟𝑛𝑖𝑛𝑔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CA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2000" dirty="0"/>
              </a:p>
              <a:p>
                <a:pPr algn="l"/>
                <a:r>
                  <a:rPr lang="en-CA" sz="2000" dirty="0"/>
                  <a:t>4.     Update the parameters and repeat</a:t>
                </a:r>
              </a:p>
              <a:p>
                <a:pPr algn="l"/>
                <a:endParaRPr lang="en-CA" sz="1800" dirty="0">
                  <a:solidFill>
                    <a:schemeClr val="tx1"/>
                  </a:solidFill>
                  <a:latin typeface="Montserrat" charset="0"/>
                  <a:ea typeface="Montserrat" charset="0"/>
                  <a:cs typeface="Montserrat" charset="0"/>
                </a:endParaRPr>
              </a:p>
              <a:p>
                <a:pPr marL="457200" indent="-457200" algn="l">
                  <a:buAutoNum type="arabicPeriod"/>
                </a:pPr>
                <a:endParaRPr lang="en-CA" sz="1800" dirty="0">
                  <a:solidFill>
                    <a:schemeClr val="tx1"/>
                  </a:solidFill>
                  <a:latin typeface="Montserrat" charset="0"/>
                  <a:ea typeface="Montserrat" charset="0"/>
                  <a:cs typeface="Montserrat" charset="0"/>
                </a:endParaRPr>
              </a:p>
              <a:p>
                <a:pPr algn="l"/>
                <a:r>
                  <a:rPr lang="en-CA" sz="1800" dirty="0">
                    <a:solidFill>
                      <a:schemeClr val="tx1"/>
                    </a:solidFill>
                    <a:latin typeface="Montserrat" charset="0"/>
                    <a:ea typeface="Montserrat" charset="0"/>
                    <a:cs typeface="Montserrat" charset="0"/>
                  </a:rPr>
                  <a:t> </a:t>
                </a:r>
                <a:endParaRPr lang="en-CA" sz="1600" dirty="0">
                  <a:solidFill>
                    <a:schemeClr val="tx1"/>
                  </a:solidFill>
                  <a:latin typeface="Montserrat" charset="0"/>
                  <a:ea typeface="Montserrat" charset="0"/>
                  <a:cs typeface="Montserrat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CA" sz="1600" dirty="0">
                  <a:solidFill>
                    <a:schemeClr val="tx1"/>
                  </a:solidFill>
                  <a:latin typeface="Montserrat" charset="0"/>
                  <a:ea typeface="Montserrat" charset="0"/>
                  <a:cs typeface="Montserrat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CA" sz="1600" dirty="0">
                  <a:solidFill>
                    <a:schemeClr val="tx1"/>
                  </a:solidFill>
                  <a:latin typeface="Montserrat" charset="0"/>
                  <a:ea typeface="Montserrat" charset="0"/>
                  <a:cs typeface="Montserrat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25EFCAF-2F05-4437-B3D0-58E0936F1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64" y="1522826"/>
                <a:ext cx="7022941" cy="4525963"/>
              </a:xfrm>
              <a:prstGeom prst="rect">
                <a:avLst/>
              </a:prstGeom>
              <a:blipFill>
                <a:blip r:embed="rId2"/>
                <a:stretch>
                  <a:fillRect l="-954" t="-1482" r="-1041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22">
            <a:extLst>
              <a:ext uri="{FF2B5EF4-FFF2-40B4-BE49-F238E27FC236}">
                <a16:creationId xmlns:a16="http://schemas.microsoft.com/office/drawing/2014/main" id="{FF15C334-BB9B-4C5C-9214-CE4261A2E368}"/>
              </a:ext>
            </a:extLst>
          </p:cNvPr>
          <p:cNvCxnSpPr/>
          <p:nvPr/>
        </p:nvCxnSpPr>
        <p:spPr>
          <a:xfrm flipV="1">
            <a:off x="8024482" y="5295349"/>
            <a:ext cx="3907020" cy="25073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23">
            <a:extLst>
              <a:ext uri="{FF2B5EF4-FFF2-40B4-BE49-F238E27FC236}">
                <a16:creationId xmlns:a16="http://schemas.microsoft.com/office/drawing/2014/main" id="{AC2BE8F9-04DF-442B-B935-9594A792CA95}"/>
              </a:ext>
            </a:extLst>
          </p:cNvPr>
          <p:cNvCxnSpPr/>
          <p:nvPr/>
        </p:nvCxnSpPr>
        <p:spPr>
          <a:xfrm flipH="1" flipV="1">
            <a:off x="8038007" y="2743776"/>
            <a:ext cx="17133" cy="2599674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25">
            <a:extLst>
              <a:ext uri="{FF2B5EF4-FFF2-40B4-BE49-F238E27FC236}">
                <a16:creationId xmlns:a16="http://schemas.microsoft.com/office/drawing/2014/main" id="{143BE807-9E0C-4D3C-B946-68074830D29F}"/>
              </a:ext>
            </a:extLst>
          </p:cNvPr>
          <p:cNvSpPr/>
          <p:nvPr/>
        </p:nvSpPr>
        <p:spPr>
          <a:xfrm>
            <a:off x="8243251" y="3248690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8" name="Oval 26">
            <a:extLst>
              <a:ext uri="{FF2B5EF4-FFF2-40B4-BE49-F238E27FC236}">
                <a16:creationId xmlns:a16="http://schemas.microsoft.com/office/drawing/2014/main" id="{7357E681-CF21-43A2-982C-D80D6E810AFF}"/>
              </a:ext>
            </a:extLst>
          </p:cNvPr>
          <p:cNvSpPr/>
          <p:nvPr/>
        </p:nvSpPr>
        <p:spPr>
          <a:xfrm>
            <a:off x="8955266" y="4413430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9" name="Oval 28">
            <a:extLst>
              <a:ext uri="{FF2B5EF4-FFF2-40B4-BE49-F238E27FC236}">
                <a16:creationId xmlns:a16="http://schemas.microsoft.com/office/drawing/2014/main" id="{75CAA02B-4E5F-409D-BD59-60D10DB6FA0D}"/>
              </a:ext>
            </a:extLst>
          </p:cNvPr>
          <p:cNvSpPr/>
          <p:nvPr/>
        </p:nvSpPr>
        <p:spPr>
          <a:xfrm>
            <a:off x="11584436" y="2425948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0" name="Oval 29">
            <a:extLst>
              <a:ext uri="{FF2B5EF4-FFF2-40B4-BE49-F238E27FC236}">
                <a16:creationId xmlns:a16="http://schemas.microsoft.com/office/drawing/2014/main" id="{72641D47-0386-4C12-BB13-20E2FDEE7DCE}"/>
              </a:ext>
            </a:extLst>
          </p:cNvPr>
          <p:cNvSpPr/>
          <p:nvPr/>
        </p:nvSpPr>
        <p:spPr>
          <a:xfrm>
            <a:off x="10862979" y="4312143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1" name="Oval 30">
            <a:extLst>
              <a:ext uri="{FF2B5EF4-FFF2-40B4-BE49-F238E27FC236}">
                <a16:creationId xmlns:a16="http://schemas.microsoft.com/office/drawing/2014/main" id="{C0923F53-AB17-427E-84E2-12276499FD3F}"/>
              </a:ext>
            </a:extLst>
          </p:cNvPr>
          <p:cNvSpPr/>
          <p:nvPr/>
        </p:nvSpPr>
        <p:spPr>
          <a:xfrm>
            <a:off x="11387443" y="3376307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2" name="Oval 31">
            <a:extLst>
              <a:ext uri="{FF2B5EF4-FFF2-40B4-BE49-F238E27FC236}">
                <a16:creationId xmlns:a16="http://schemas.microsoft.com/office/drawing/2014/main" id="{EE34845B-8B2D-4C3B-A2E1-156E81A2B4A8}"/>
              </a:ext>
            </a:extLst>
          </p:cNvPr>
          <p:cNvSpPr/>
          <p:nvPr/>
        </p:nvSpPr>
        <p:spPr>
          <a:xfrm>
            <a:off x="9903121" y="4689652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3" name="TextBox 33">
            <a:extLst>
              <a:ext uri="{FF2B5EF4-FFF2-40B4-BE49-F238E27FC236}">
                <a16:creationId xmlns:a16="http://schemas.microsoft.com/office/drawing/2014/main" id="{9726F759-4A1A-4DAE-AD1C-2C71ADAADBDB}"/>
              </a:ext>
            </a:extLst>
          </p:cNvPr>
          <p:cNvSpPr txBox="1"/>
          <p:nvPr/>
        </p:nvSpPr>
        <p:spPr>
          <a:xfrm>
            <a:off x="8870985" y="5402244"/>
            <a:ext cx="2465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Parameters (m, b)</a:t>
            </a:r>
          </a:p>
        </p:txBody>
      </p:sp>
      <p:sp>
        <p:nvSpPr>
          <p:cNvPr id="14" name="TextBox 34">
            <a:extLst>
              <a:ext uri="{FF2B5EF4-FFF2-40B4-BE49-F238E27FC236}">
                <a16:creationId xmlns:a16="http://schemas.microsoft.com/office/drawing/2014/main" id="{D5C9C71D-4F70-4FDC-A964-A732EE5B8F07}"/>
              </a:ext>
            </a:extLst>
          </p:cNvPr>
          <p:cNvSpPr txBox="1"/>
          <p:nvPr/>
        </p:nvSpPr>
        <p:spPr>
          <a:xfrm rot="16200000">
            <a:off x="5991366" y="3722634"/>
            <a:ext cx="3543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Sum of Squared Residuals</a:t>
            </a:r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A03166CD-90E5-4BF1-8B9F-4EF49EAEE387}"/>
              </a:ext>
            </a:extLst>
          </p:cNvPr>
          <p:cNvSpPr/>
          <p:nvPr/>
        </p:nvSpPr>
        <p:spPr>
          <a:xfrm>
            <a:off x="8240138" y="2540128"/>
            <a:ext cx="3524250" cy="2327977"/>
          </a:xfrm>
          <a:custGeom>
            <a:avLst/>
            <a:gdLst>
              <a:gd name="connsiteX0" fmla="*/ 0 w 3524250"/>
              <a:gd name="connsiteY0" fmla="*/ 61810 h 2327977"/>
              <a:gd name="connsiteX1" fmla="*/ 209550 w 3524250"/>
              <a:gd name="connsiteY1" fmla="*/ 947635 h 2327977"/>
              <a:gd name="connsiteX2" fmla="*/ 552450 w 3524250"/>
              <a:gd name="connsiteY2" fmla="*/ 1652485 h 2327977"/>
              <a:gd name="connsiteX3" fmla="*/ 981075 w 3524250"/>
              <a:gd name="connsiteY3" fmla="*/ 2176360 h 2327977"/>
              <a:gd name="connsiteX4" fmla="*/ 1847850 w 3524250"/>
              <a:gd name="connsiteY4" fmla="*/ 2319235 h 2327977"/>
              <a:gd name="connsiteX5" fmla="*/ 2819400 w 3524250"/>
              <a:gd name="connsiteY5" fmla="*/ 1976335 h 2327977"/>
              <a:gd name="connsiteX6" fmla="*/ 3333750 w 3524250"/>
              <a:gd name="connsiteY6" fmla="*/ 966685 h 2327977"/>
              <a:gd name="connsiteX7" fmla="*/ 3524250 w 3524250"/>
              <a:gd name="connsiteY7" fmla="*/ 23710 h 2327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0" h="2327977">
                <a:moveTo>
                  <a:pt x="0" y="61810"/>
                </a:moveTo>
                <a:cubicBezTo>
                  <a:pt x="58737" y="372166"/>
                  <a:pt x="117475" y="682522"/>
                  <a:pt x="209550" y="947635"/>
                </a:cubicBezTo>
                <a:cubicBezTo>
                  <a:pt x="301625" y="1212748"/>
                  <a:pt x="423863" y="1447698"/>
                  <a:pt x="552450" y="1652485"/>
                </a:cubicBezTo>
                <a:cubicBezTo>
                  <a:pt x="681038" y="1857273"/>
                  <a:pt x="765175" y="2065235"/>
                  <a:pt x="981075" y="2176360"/>
                </a:cubicBezTo>
                <a:cubicBezTo>
                  <a:pt x="1196975" y="2287485"/>
                  <a:pt x="1541463" y="2352573"/>
                  <a:pt x="1847850" y="2319235"/>
                </a:cubicBezTo>
                <a:cubicBezTo>
                  <a:pt x="2154238" y="2285898"/>
                  <a:pt x="2571750" y="2201760"/>
                  <a:pt x="2819400" y="1976335"/>
                </a:cubicBezTo>
                <a:cubicBezTo>
                  <a:pt x="3067050" y="1750910"/>
                  <a:pt x="3216275" y="1292122"/>
                  <a:pt x="3333750" y="966685"/>
                </a:cubicBezTo>
                <a:cubicBezTo>
                  <a:pt x="3451225" y="641248"/>
                  <a:pt x="3460750" y="-146153"/>
                  <a:pt x="3524250" y="23710"/>
                </a:cubicBezTo>
              </a:path>
            </a:pathLst>
          </a:custGeom>
          <a:noFill/>
          <a:ln w="571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86D56814-4428-4925-A5C9-1AE50F0E2F9B}"/>
              </a:ext>
            </a:extLst>
          </p:cNvPr>
          <p:cNvCxnSpPr/>
          <p:nvPr/>
        </p:nvCxnSpPr>
        <p:spPr>
          <a:xfrm>
            <a:off x="7826375" y="2060575"/>
            <a:ext cx="1202604" cy="30575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8">
            <a:extLst>
              <a:ext uri="{FF2B5EF4-FFF2-40B4-BE49-F238E27FC236}">
                <a16:creationId xmlns:a16="http://schemas.microsoft.com/office/drawing/2014/main" id="{89F97A14-24F1-4FF5-92B2-A9F736DF18D6}"/>
              </a:ext>
            </a:extLst>
          </p:cNvPr>
          <p:cNvCxnSpPr/>
          <p:nvPr/>
        </p:nvCxnSpPr>
        <p:spPr>
          <a:xfrm>
            <a:off x="8122943" y="3676425"/>
            <a:ext cx="1780178" cy="187488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2">
            <a:extLst>
              <a:ext uri="{FF2B5EF4-FFF2-40B4-BE49-F238E27FC236}">
                <a16:creationId xmlns:a16="http://schemas.microsoft.com/office/drawing/2014/main" id="{1F34E39E-D3AB-4610-86A2-7A52C6F23DBE}"/>
              </a:ext>
            </a:extLst>
          </p:cNvPr>
          <p:cNvCxnSpPr/>
          <p:nvPr/>
        </p:nvCxnSpPr>
        <p:spPr>
          <a:xfrm>
            <a:off x="8135891" y="4312143"/>
            <a:ext cx="2550489" cy="9730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5">
            <a:extLst>
              <a:ext uri="{FF2B5EF4-FFF2-40B4-BE49-F238E27FC236}">
                <a16:creationId xmlns:a16="http://schemas.microsoft.com/office/drawing/2014/main" id="{2C9B01FA-B03B-4056-84BE-B761AD101D57}"/>
              </a:ext>
            </a:extLst>
          </p:cNvPr>
          <p:cNvCxnSpPr/>
          <p:nvPr/>
        </p:nvCxnSpPr>
        <p:spPr>
          <a:xfrm>
            <a:off x="8763610" y="4874675"/>
            <a:ext cx="253354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47">
            <a:extLst>
              <a:ext uri="{FF2B5EF4-FFF2-40B4-BE49-F238E27FC236}">
                <a16:creationId xmlns:a16="http://schemas.microsoft.com/office/drawing/2014/main" id="{99A071D5-E2DE-42A2-B9AB-717A5DB2D013}"/>
              </a:ext>
            </a:extLst>
          </p:cNvPr>
          <p:cNvCxnSpPr/>
          <p:nvPr/>
        </p:nvCxnSpPr>
        <p:spPr>
          <a:xfrm rot="16200000" flipH="1">
            <a:off x="8916512" y="3623633"/>
            <a:ext cx="1452580" cy="778519"/>
          </a:xfrm>
          <a:prstGeom prst="curvedConnector3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48">
            <a:extLst>
              <a:ext uri="{FF2B5EF4-FFF2-40B4-BE49-F238E27FC236}">
                <a16:creationId xmlns:a16="http://schemas.microsoft.com/office/drawing/2014/main" id="{C74F65A1-A049-41D6-859A-5D7B4BEBC1C8}"/>
              </a:ext>
            </a:extLst>
          </p:cNvPr>
          <p:cNvSpPr txBox="1"/>
          <p:nvPr/>
        </p:nvSpPr>
        <p:spPr>
          <a:xfrm>
            <a:off x="8536928" y="2741960"/>
            <a:ext cx="1873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600" b="1" dirty="0">
                <a:solidFill>
                  <a:srgbClr val="FF0000"/>
                </a:solidFill>
              </a:rPr>
              <a:t>OPTIMAL POINT</a:t>
            </a:r>
          </a:p>
          <a:p>
            <a:pPr algn="ctr"/>
            <a:r>
              <a:rPr lang="en-CA" sz="1600" b="1" dirty="0">
                <a:solidFill>
                  <a:srgbClr val="FF0000"/>
                </a:solidFill>
              </a:rPr>
              <a:t>GLOBAL MINIMUM</a:t>
            </a:r>
          </a:p>
        </p:txBody>
      </p:sp>
      <p:sp>
        <p:nvSpPr>
          <p:cNvPr id="22" name="Rectangle 49">
            <a:extLst>
              <a:ext uri="{FF2B5EF4-FFF2-40B4-BE49-F238E27FC236}">
                <a16:creationId xmlns:a16="http://schemas.microsoft.com/office/drawing/2014/main" id="{244B848A-7E40-4C83-8E74-16146FCC40A4}"/>
              </a:ext>
            </a:extLst>
          </p:cNvPr>
          <p:cNvSpPr/>
          <p:nvPr/>
        </p:nvSpPr>
        <p:spPr>
          <a:xfrm>
            <a:off x="1065168" y="574145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b="1" i="1" dirty="0">
                <a:solidFill>
                  <a:srgbClr val="583A72"/>
                </a:solidFill>
                <a:latin typeface="Montserrat" charset="0"/>
                <a:ea typeface="Montserrat" charset="0"/>
                <a:cs typeface="Montserrat" charset="0"/>
              </a:rPr>
              <a:t>*Note: in reality, this graph is 3D and has three axes, one for m, b and sum of squared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4">
                <a:extLst>
                  <a:ext uri="{FF2B5EF4-FFF2-40B4-BE49-F238E27FC236}">
                    <a16:creationId xmlns:a16="http://schemas.microsoft.com/office/drawing/2014/main" id="{81589DE0-EA50-4B79-A1CF-9681EE55CD6C}"/>
                  </a:ext>
                </a:extLst>
              </p:cNvPr>
              <p:cNvSpPr txBox="1"/>
              <p:nvPr/>
            </p:nvSpPr>
            <p:spPr>
              <a:xfrm>
                <a:off x="3974588" y="4282661"/>
                <a:ext cx="22264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CA" sz="2800" dirty="0"/>
              </a:p>
            </p:txBody>
          </p:sp>
        </mc:Choice>
        <mc:Fallback xmlns="">
          <p:sp>
            <p:nvSpPr>
              <p:cNvPr id="23" name="TextBox 24">
                <a:extLst>
                  <a:ext uri="{FF2B5EF4-FFF2-40B4-BE49-F238E27FC236}">
                    <a16:creationId xmlns:a16="http://schemas.microsoft.com/office/drawing/2014/main" id="{81589DE0-EA50-4B79-A1CF-9681EE55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588" y="4282661"/>
                <a:ext cx="222644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27">
            <a:extLst>
              <a:ext uri="{FF2B5EF4-FFF2-40B4-BE49-F238E27FC236}">
                <a16:creationId xmlns:a16="http://schemas.microsoft.com/office/drawing/2014/main" id="{023BAC95-DA0B-4B71-B7A2-C2BD23CCDD61}"/>
              </a:ext>
            </a:extLst>
          </p:cNvPr>
          <p:cNvSpPr/>
          <p:nvPr/>
        </p:nvSpPr>
        <p:spPr>
          <a:xfrm>
            <a:off x="4633940" y="4246747"/>
            <a:ext cx="266620" cy="500867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ounded Rectangle 32">
            <a:extLst>
              <a:ext uri="{FF2B5EF4-FFF2-40B4-BE49-F238E27FC236}">
                <a16:creationId xmlns:a16="http://schemas.microsoft.com/office/drawing/2014/main" id="{2BE23FAE-473D-4616-A65A-878ED4A2E171}"/>
              </a:ext>
            </a:extLst>
          </p:cNvPr>
          <p:cNvSpPr/>
          <p:nvPr/>
        </p:nvSpPr>
        <p:spPr>
          <a:xfrm>
            <a:off x="5264926" y="4257076"/>
            <a:ext cx="352435" cy="506487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6" name="Curved Connector 35">
            <a:extLst>
              <a:ext uri="{FF2B5EF4-FFF2-40B4-BE49-F238E27FC236}">
                <a16:creationId xmlns:a16="http://schemas.microsoft.com/office/drawing/2014/main" id="{DD58764F-7BF9-4AEE-9123-AC9A90289776}"/>
              </a:ext>
            </a:extLst>
          </p:cNvPr>
          <p:cNvCxnSpPr/>
          <p:nvPr/>
        </p:nvCxnSpPr>
        <p:spPr>
          <a:xfrm flipV="1">
            <a:off x="3842588" y="4749542"/>
            <a:ext cx="791354" cy="646947"/>
          </a:xfrm>
          <a:prstGeom prst="curvedConnector3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36">
            <a:extLst>
              <a:ext uri="{FF2B5EF4-FFF2-40B4-BE49-F238E27FC236}">
                <a16:creationId xmlns:a16="http://schemas.microsoft.com/office/drawing/2014/main" id="{A1ADF28A-3F7C-4901-9AB3-FF364CE63867}"/>
              </a:ext>
            </a:extLst>
          </p:cNvPr>
          <p:cNvSpPr txBox="1"/>
          <p:nvPr/>
        </p:nvSpPr>
        <p:spPr>
          <a:xfrm>
            <a:off x="1067203" y="5104101"/>
            <a:ext cx="3833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b="1" dirty="0">
                <a:solidFill>
                  <a:srgbClr val="FF0000"/>
                </a:solidFill>
              </a:rPr>
              <a:t>GOAL IS TO FIND </a:t>
            </a:r>
          </a:p>
          <a:p>
            <a:pPr algn="ctr"/>
            <a:r>
              <a:rPr lang="en-CA" sz="1600" b="1" dirty="0">
                <a:solidFill>
                  <a:srgbClr val="FF0000"/>
                </a:solidFill>
              </a:rPr>
              <a:t>BEST PARAMETERS</a:t>
            </a:r>
          </a:p>
        </p:txBody>
      </p:sp>
      <p:cxnSp>
        <p:nvCxnSpPr>
          <p:cNvPr id="28" name="Curved Connector 37">
            <a:extLst>
              <a:ext uri="{FF2B5EF4-FFF2-40B4-BE49-F238E27FC236}">
                <a16:creationId xmlns:a16="http://schemas.microsoft.com/office/drawing/2014/main" id="{9B5A9C42-EBF5-4E83-853D-CD3D20FFE15E}"/>
              </a:ext>
            </a:extLst>
          </p:cNvPr>
          <p:cNvCxnSpPr/>
          <p:nvPr/>
        </p:nvCxnSpPr>
        <p:spPr>
          <a:xfrm flipV="1">
            <a:off x="4196683" y="4787524"/>
            <a:ext cx="1140669" cy="640517"/>
          </a:xfrm>
          <a:prstGeom prst="curvedConnector3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0CC9FB35-066D-4216-AFA8-E14E39258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1773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6E1CC-1092-4195-AF55-31C9C3F7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MATH!</a:t>
            </a:r>
            <a:endParaRPr lang="es-C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6A4493-16D4-4386-886C-54A5922AD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9">
                <a:extLst>
                  <a:ext uri="{FF2B5EF4-FFF2-40B4-BE49-F238E27FC236}">
                    <a16:creationId xmlns:a16="http://schemas.microsoft.com/office/drawing/2014/main" id="{40C6C4C3-C4E2-4976-B474-B0E22C499694}"/>
                  </a:ext>
                </a:extLst>
              </p:cNvPr>
              <p:cNvSpPr txBox="1"/>
              <p:nvPr/>
            </p:nvSpPr>
            <p:spPr>
              <a:xfrm>
                <a:off x="3120534" y="1669179"/>
                <a:ext cx="22264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CA" sz="2800" dirty="0"/>
              </a:p>
            </p:txBody>
          </p:sp>
        </mc:Choice>
        <mc:Fallback xmlns="">
          <p:sp>
            <p:nvSpPr>
              <p:cNvPr id="4" name="TextBox 9">
                <a:extLst>
                  <a:ext uri="{FF2B5EF4-FFF2-40B4-BE49-F238E27FC236}">
                    <a16:creationId xmlns:a16="http://schemas.microsoft.com/office/drawing/2014/main" id="{40C6C4C3-C4E2-4976-B474-B0E22C499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534" y="1669179"/>
                <a:ext cx="222644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14">
            <a:extLst>
              <a:ext uri="{FF2B5EF4-FFF2-40B4-BE49-F238E27FC236}">
                <a16:creationId xmlns:a16="http://schemas.microsoft.com/office/drawing/2014/main" id="{4D98F851-DE74-4C4C-907A-219D735E5A45}"/>
              </a:ext>
            </a:extLst>
          </p:cNvPr>
          <p:cNvSpPr/>
          <p:nvPr/>
        </p:nvSpPr>
        <p:spPr>
          <a:xfrm>
            <a:off x="3779886" y="1633265"/>
            <a:ext cx="266620" cy="500867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ounded Rectangle 15">
            <a:extLst>
              <a:ext uri="{FF2B5EF4-FFF2-40B4-BE49-F238E27FC236}">
                <a16:creationId xmlns:a16="http://schemas.microsoft.com/office/drawing/2014/main" id="{F47B22BE-2A3D-4669-9A2D-56FC3A330F13}"/>
              </a:ext>
            </a:extLst>
          </p:cNvPr>
          <p:cNvSpPr/>
          <p:nvPr/>
        </p:nvSpPr>
        <p:spPr>
          <a:xfrm>
            <a:off x="4410872" y="1643594"/>
            <a:ext cx="352435" cy="506487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0">
                <a:extLst>
                  <a:ext uri="{FF2B5EF4-FFF2-40B4-BE49-F238E27FC236}">
                    <a16:creationId xmlns:a16="http://schemas.microsoft.com/office/drawing/2014/main" id="{26A558C3-0B87-4DCF-BA5D-F610E6D236F7}"/>
                  </a:ext>
                </a:extLst>
              </p:cNvPr>
              <p:cNvSpPr txBox="1"/>
              <p:nvPr/>
            </p:nvSpPr>
            <p:spPr>
              <a:xfrm>
                <a:off x="925477" y="3052182"/>
                <a:ext cx="5724131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00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CA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000" i="1" smtClean="0">
                          <a:latin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d>
                                    <m:dPr>
                                      <m:ctrlP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CA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CA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7" name="TextBox 20">
                <a:extLst>
                  <a:ext uri="{FF2B5EF4-FFF2-40B4-BE49-F238E27FC236}">
                    <a16:creationId xmlns:a16="http://schemas.microsoft.com/office/drawing/2014/main" id="{26A558C3-0B87-4DCF-BA5D-F610E6D23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7" y="3052182"/>
                <a:ext cx="5724131" cy="8402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22">
            <a:extLst>
              <a:ext uri="{FF2B5EF4-FFF2-40B4-BE49-F238E27FC236}">
                <a16:creationId xmlns:a16="http://schemas.microsoft.com/office/drawing/2014/main" id="{A7109E91-E020-4610-A8C8-FACAB9021F60}"/>
              </a:ext>
            </a:extLst>
          </p:cNvPr>
          <p:cNvCxnSpPr/>
          <p:nvPr/>
        </p:nvCxnSpPr>
        <p:spPr>
          <a:xfrm flipV="1">
            <a:off x="7850716" y="5543233"/>
            <a:ext cx="3907020" cy="25073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23">
            <a:extLst>
              <a:ext uri="{FF2B5EF4-FFF2-40B4-BE49-F238E27FC236}">
                <a16:creationId xmlns:a16="http://schemas.microsoft.com/office/drawing/2014/main" id="{A9909CDC-3FDB-4835-8DB2-79C50F8068A3}"/>
              </a:ext>
            </a:extLst>
          </p:cNvPr>
          <p:cNvCxnSpPr/>
          <p:nvPr/>
        </p:nvCxnSpPr>
        <p:spPr>
          <a:xfrm flipH="1" flipV="1">
            <a:off x="7864241" y="2991660"/>
            <a:ext cx="17133" cy="2599674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25">
            <a:extLst>
              <a:ext uri="{FF2B5EF4-FFF2-40B4-BE49-F238E27FC236}">
                <a16:creationId xmlns:a16="http://schemas.microsoft.com/office/drawing/2014/main" id="{AD56CAE6-6AD4-4C99-9328-9E9DD3D17199}"/>
              </a:ext>
            </a:extLst>
          </p:cNvPr>
          <p:cNvSpPr/>
          <p:nvPr/>
        </p:nvSpPr>
        <p:spPr>
          <a:xfrm>
            <a:off x="8069485" y="3496574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1" name="Oval 26">
            <a:extLst>
              <a:ext uri="{FF2B5EF4-FFF2-40B4-BE49-F238E27FC236}">
                <a16:creationId xmlns:a16="http://schemas.microsoft.com/office/drawing/2014/main" id="{4F9FF55A-DD95-4684-A900-DBF9FB0B522E}"/>
              </a:ext>
            </a:extLst>
          </p:cNvPr>
          <p:cNvSpPr/>
          <p:nvPr/>
        </p:nvSpPr>
        <p:spPr>
          <a:xfrm>
            <a:off x="8781500" y="4661314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2" name="Oval 28">
            <a:extLst>
              <a:ext uri="{FF2B5EF4-FFF2-40B4-BE49-F238E27FC236}">
                <a16:creationId xmlns:a16="http://schemas.microsoft.com/office/drawing/2014/main" id="{45154D91-7E84-444D-8900-A97E108CF9AD}"/>
              </a:ext>
            </a:extLst>
          </p:cNvPr>
          <p:cNvSpPr/>
          <p:nvPr/>
        </p:nvSpPr>
        <p:spPr>
          <a:xfrm>
            <a:off x="11410670" y="2673832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3" name="Oval 29">
            <a:extLst>
              <a:ext uri="{FF2B5EF4-FFF2-40B4-BE49-F238E27FC236}">
                <a16:creationId xmlns:a16="http://schemas.microsoft.com/office/drawing/2014/main" id="{A8E8A3E7-9934-4F45-A7D3-2FAF302A3FA8}"/>
              </a:ext>
            </a:extLst>
          </p:cNvPr>
          <p:cNvSpPr/>
          <p:nvPr/>
        </p:nvSpPr>
        <p:spPr>
          <a:xfrm>
            <a:off x="10689213" y="4560027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4" name="Oval 30">
            <a:extLst>
              <a:ext uri="{FF2B5EF4-FFF2-40B4-BE49-F238E27FC236}">
                <a16:creationId xmlns:a16="http://schemas.microsoft.com/office/drawing/2014/main" id="{FB0D29C4-B888-46DE-A114-11F9069DDC03}"/>
              </a:ext>
            </a:extLst>
          </p:cNvPr>
          <p:cNvSpPr/>
          <p:nvPr/>
        </p:nvSpPr>
        <p:spPr>
          <a:xfrm>
            <a:off x="11213677" y="3624191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5" name="Oval 31">
            <a:extLst>
              <a:ext uri="{FF2B5EF4-FFF2-40B4-BE49-F238E27FC236}">
                <a16:creationId xmlns:a16="http://schemas.microsoft.com/office/drawing/2014/main" id="{F9026A4C-D125-4F7B-BEA3-A7FBBD592003}"/>
              </a:ext>
            </a:extLst>
          </p:cNvPr>
          <p:cNvSpPr/>
          <p:nvPr/>
        </p:nvSpPr>
        <p:spPr>
          <a:xfrm>
            <a:off x="9729355" y="4937536"/>
            <a:ext cx="284199" cy="300118"/>
          </a:xfrm>
          <a:prstGeom prst="ellipse">
            <a:avLst/>
          </a:prstGeom>
          <a:solidFill>
            <a:srgbClr val="71508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1508D"/>
              </a:solidFill>
            </a:endParaRPr>
          </a:p>
        </p:txBody>
      </p:sp>
      <p:sp>
        <p:nvSpPr>
          <p:cNvPr id="16" name="TextBox 33">
            <a:extLst>
              <a:ext uri="{FF2B5EF4-FFF2-40B4-BE49-F238E27FC236}">
                <a16:creationId xmlns:a16="http://schemas.microsoft.com/office/drawing/2014/main" id="{E4E8AFE9-4DCB-4585-85A9-CC36A2557489}"/>
              </a:ext>
            </a:extLst>
          </p:cNvPr>
          <p:cNvSpPr txBox="1"/>
          <p:nvPr/>
        </p:nvSpPr>
        <p:spPr>
          <a:xfrm>
            <a:off x="8697219" y="5650128"/>
            <a:ext cx="2084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/>
              <a:t>Parameters (m, b)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2533D7BD-4ECE-408C-8AB1-4E021F285A62}"/>
              </a:ext>
            </a:extLst>
          </p:cNvPr>
          <p:cNvSpPr txBox="1"/>
          <p:nvPr/>
        </p:nvSpPr>
        <p:spPr>
          <a:xfrm rot="16200000">
            <a:off x="5219938" y="4001295"/>
            <a:ext cx="458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/>
              <a:t>Sum of Squared Residuals (Loss Function)</a:t>
            </a:r>
          </a:p>
        </p:txBody>
      </p:sp>
      <p:sp>
        <p:nvSpPr>
          <p:cNvPr id="18" name="Freeform 1">
            <a:extLst>
              <a:ext uri="{FF2B5EF4-FFF2-40B4-BE49-F238E27FC236}">
                <a16:creationId xmlns:a16="http://schemas.microsoft.com/office/drawing/2014/main" id="{1802F3B5-1D9E-447B-8F87-BF4461C58253}"/>
              </a:ext>
            </a:extLst>
          </p:cNvPr>
          <p:cNvSpPr/>
          <p:nvPr/>
        </p:nvSpPr>
        <p:spPr>
          <a:xfrm>
            <a:off x="8066372" y="2788012"/>
            <a:ext cx="3524250" cy="2327977"/>
          </a:xfrm>
          <a:custGeom>
            <a:avLst/>
            <a:gdLst>
              <a:gd name="connsiteX0" fmla="*/ 0 w 3524250"/>
              <a:gd name="connsiteY0" fmla="*/ 61810 h 2327977"/>
              <a:gd name="connsiteX1" fmla="*/ 209550 w 3524250"/>
              <a:gd name="connsiteY1" fmla="*/ 947635 h 2327977"/>
              <a:gd name="connsiteX2" fmla="*/ 552450 w 3524250"/>
              <a:gd name="connsiteY2" fmla="*/ 1652485 h 2327977"/>
              <a:gd name="connsiteX3" fmla="*/ 981075 w 3524250"/>
              <a:gd name="connsiteY3" fmla="*/ 2176360 h 2327977"/>
              <a:gd name="connsiteX4" fmla="*/ 1847850 w 3524250"/>
              <a:gd name="connsiteY4" fmla="*/ 2319235 h 2327977"/>
              <a:gd name="connsiteX5" fmla="*/ 2819400 w 3524250"/>
              <a:gd name="connsiteY5" fmla="*/ 1976335 h 2327977"/>
              <a:gd name="connsiteX6" fmla="*/ 3333750 w 3524250"/>
              <a:gd name="connsiteY6" fmla="*/ 966685 h 2327977"/>
              <a:gd name="connsiteX7" fmla="*/ 3524250 w 3524250"/>
              <a:gd name="connsiteY7" fmla="*/ 23710 h 2327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0" h="2327977">
                <a:moveTo>
                  <a:pt x="0" y="61810"/>
                </a:moveTo>
                <a:cubicBezTo>
                  <a:pt x="58737" y="372166"/>
                  <a:pt x="117475" y="682522"/>
                  <a:pt x="209550" y="947635"/>
                </a:cubicBezTo>
                <a:cubicBezTo>
                  <a:pt x="301625" y="1212748"/>
                  <a:pt x="423863" y="1447698"/>
                  <a:pt x="552450" y="1652485"/>
                </a:cubicBezTo>
                <a:cubicBezTo>
                  <a:pt x="681038" y="1857273"/>
                  <a:pt x="765175" y="2065235"/>
                  <a:pt x="981075" y="2176360"/>
                </a:cubicBezTo>
                <a:cubicBezTo>
                  <a:pt x="1196975" y="2287485"/>
                  <a:pt x="1541463" y="2352573"/>
                  <a:pt x="1847850" y="2319235"/>
                </a:cubicBezTo>
                <a:cubicBezTo>
                  <a:pt x="2154238" y="2285898"/>
                  <a:pt x="2571750" y="2201760"/>
                  <a:pt x="2819400" y="1976335"/>
                </a:cubicBezTo>
                <a:cubicBezTo>
                  <a:pt x="3067050" y="1750910"/>
                  <a:pt x="3216275" y="1292122"/>
                  <a:pt x="3333750" y="966685"/>
                </a:cubicBezTo>
                <a:cubicBezTo>
                  <a:pt x="3451225" y="641248"/>
                  <a:pt x="3460750" y="-146153"/>
                  <a:pt x="3524250" y="23710"/>
                </a:cubicBezTo>
              </a:path>
            </a:pathLst>
          </a:custGeom>
          <a:noFill/>
          <a:ln w="571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9" name="Straight Connector 4">
            <a:extLst>
              <a:ext uri="{FF2B5EF4-FFF2-40B4-BE49-F238E27FC236}">
                <a16:creationId xmlns:a16="http://schemas.microsoft.com/office/drawing/2014/main" id="{947CB142-75B3-4CD5-8C8B-16BC227BDF09}"/>
              </a:ext>
            </a:extLst>
          </p:cNvPr>
          <p:cNvCxnSpPr/>
          <p:nvPr/>
        </p:nvCxnSpPr>
        <p:spPr>
          <a:xfrm>
            <a:off x="7652609" y="2308459"/>
            <a:ext cx="1202604" cy="30575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8">
            <a:extLst>
              <a:ext uri="{FF2B5EF4-FFF2-40B4-BE49-F238E27FC236}">
                <a16:creationId xmlns:a16="http://schemas.microsoft.com/office/drawing/2014/main" id="{79301843-7623-47CF-8893-7ED22EA47FD1}"/>
              </a:ext>
            </a:extLst>
          </p:cNvPr>
          <p:cNvCxnSpPr/>
          <p:nvPr/>
        </p:nvCxnSpPr>
        <p:spPr>
          <a:xfrm>
            <a:off x="7949177" y="3924309"/>
            <a:ext cx="1780178" cy="187488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2">
            <a:extLst>
              <a:ext uri="{FF2B5EF4-FFF2-40B4-BE49-F238E27FC236}">
                <a16:creationId xmlns:a16="http://schemas.microsoft.com/office/drawing/2014/main" id="{B1F64F1E-407C-4A27-BF17-E4632FF6084E}"/>
              </a:ext>
            </a:extLst>
          </p:cNvPr>
          <p:cNvCxnSpPr/>
          <p:nvPr/>
        </p:nvCxnSpPr>
        <p:spPr>
          <a:xfrm>
            <a:off x="7962125" y="4560027"/>
            <a:ext cx="2550489" cy="9730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5">
            <a:extLst>
              <a:ext uri="{FF2B5EF4-FFF2-40B4-BE49-F238E27FC236}">
                <a16:creationId xmlns:a16="http://schemas.microsoft.com/office/drawing/2014/main" id="{9442F8B3-93A0-471A-B2E7-207933F8579A}"/>
              </a:ext>
            </a:extLst>
          </p:cNvPr>
          <p:cNvCxnSpPr/>
          <p:nvPr/>
        </p:nvCxnSpPr>
        <p:spPr>
          <a:xfrm>
            <a:off x="8589844" y="5122559"/>
            <a:ext cx="253354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47">
            <a:extLst>
              <a:ext uri="{FF2B5EF4-FFF2-40B4-BE49-F238E27FC236}">
                <a16:creationId xmlns:a16="http://schemas.microsoft.com/office/drawing/2014/main" id="{15AAC4B9-7104-4CD0-95B1-2F938AAB38E5}"/>
              </a:ext>
            </a:extLst>
          </p:cNvPr>
          <p:cNvCxnSpPr/>
          <p:nvPr/>
        </p:nvCxnSpPr>
        <p:spPr>
          <a:xfrm rot="16200000" flipH="1">
            <a:off x="8742746" y="3871517"/>
            <a:ext cx="1452580" cy="778519"/>
          </a:xfrm>
          <a:prstGeom prst="curvedConnector3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48">
            <a:extLst>
              <a:ext uri="{FF2B5EF4-FFF2-40B4-BE49-F238E27FC236}">
                <a16:creationId xmlns:a16="http://schemas.microsoft.com/office/drawing/2014/main" id="{4B07E818-88CF-4007-8A91-CDFBD4C374FE}"/>
              </a:ext>
            </a:extLst>
          </p:cNvPr>
          <p:cNvSpPr txBox="1"/>
          <p:nvPr/>
        </p:nvSpPr>
        <p:spPr>
          <a:xfrm>
            <a:off x="8363162" y="2989844"/>
            <a:ext cx="1873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600" b="1" dirty="0">
                <a:solidFill>
                  <a:srgbClr val="FF0000"/>
                </a:solidFill>
              </a:rPr>
              <a:t>OPTIMAL POINT</a:t>
            </a:r>
          </a:p>
          <a:p>
            <a:pPr algn="ctr"/>
            <a:r>
              <a:rPr lang="en-CA" sz="1600" b="1" dirty="0">
                <a:solidFill>
                  <a:srgbClr val="FF0000"/>
                </a:solidFill>
              </a:rPr>
              <a:t>GLOBAL MINIMUM</a:t>
            </a:r>
          </a:p>
        </p:txBody>
      </p:sp>
      <p:sp>
        <p:nvSpPr>
          <p:cNvPr id="25" name="Rectangle 49">
            <a:extLst>
              <a:ext uri="{FF2B5EF4-FFF2-40B4-BE49-F238E27FC236}">
                <a16:creationId xmlns:a16="http://schemas.microsoft.com/office/drawing/2014/main" id="{8CD1EE3B-9C31-4F9D-865B-8AE2D57C190E}"/>
              </a:ext>
            </a:extLst>
          </p:cNvPr>
          <p:cNvSpPr/>
          <p:nvPr/>
        </p:nvSpPr>
        <p:spPr>
          <a:xfrm>
            <a:off x="1172130" y="57886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b="1" i="1" dirty="0">
                <a:solidFill>
                  <a:srgbClr val="583A72"/>
                </a:solidFill>
                <a:latin typeface="Montserrat" charset="0"/>
                <a:ea typeface="Montserrat" charset="0"/>
                <a:cs typeface="Montserrat" charset="0"/>
              </a:rPr>
              <a:t>*Note: in reality, this graph is 3D and has three axes, one for m, b and sum of squared residuals</a:t>
            </a:r>
          </a:p>
        </p:txBody>
      </p:sp>
      <p:cxnSp>
        <p:nvCxnSpPr>
          <p:cNvPr id="26" name="Curved Connector 27">
            <a:extLst>
              <a:ext uri="{FF2B5EF4-FFF2-40B4-BE49-F238E27FC236}">
                <a16:creationId xmlns:a16="http://schemas.microsoft.com/office/drawing/2014/main" id="{15FAAD7D-4514-4151-B766-197838228FB1}"/>
              </a:ext>
            </a:extLst>
          </p:cNvPr>
          <p:cNvCxnSpPr/>
          <p:nvPr/>
        </p:nvCxnSpPr>
        <p:spPr>
          <a:xfrm flipV="1">
            <a:off x="2988534" y="2136060"/>
            <a:ext cx="791354" cy="646947"/>
          </a:xfrm>
          <a:prstGeom prst="curvedConnector3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32">
            <a:extLst>
              <a:ext uri="{FF2B5EF4-FFF2-40B4-BE49-F238E27FC236}">
                <a16:creationId xmlns:a16="http://schemas.microsoft.com/office/drawing/2014/main" id="{AB63E0E2-8DC2-4BC5-9140-A83CE68BF99C}"/>
              </a:ext>
            </a:extLst>
          </p:cNvPr>
          <p:cNvSpPr txBox="1"/>
          <p:nvPr/>
        </p:nvSpPr>
        <p:spPr>
          <a:xfrm>
            <a:off x="213149" y="2490619"/>
            <a:ext cx="3833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b="1" dirty="0">
                <a:solidFill>
                  <a:srgbClr val="FF0000"/>
                </a:solidFill>
              </a:rPr>
              <a:t>GOAL IS TO FIND </a:t>
            </a:r>
          </a:p>
          <a:p>
            <a:pPr algn="ctr"/>
            <a:r>
              <a:rPr lang="en-CA" sz="1600" b="1" dirty="0">
                <a:solidFill>
                  <a:srgbClr val="FF0000"/>
                </a:solidFill>
              </a:rPr>
              <a:t>BEST PARAMETERS</a:t>
            </a:r>
          </a:p>
        </p:txBody>
      </p:sp>
      <p:cxnSp>
        <p:nvCxnSpPr>
          <p:cNvPr id="28" name="Curved Connector 35">
            <a:extLst>
              <a:ext uri="{FF2B5EF4-FFF2-40B4-BE49-F238E27FC236}">
                <a16:creationId xmlns:a16="http://schemas.microsoft.com/office/drawing/2014/main" id="{0D28EFEA-2ADA-4846-8505-0B3AC72784D9}"/>
              </a:ext>
            </a:extLst>
          </p:cNvPr>
          <p:cNvCxnSpPr/>
          <p:nvPr/>
        </p:nvCxnSpPr>
        <p:spPr>
          <a:xfrm flipV="1">
            <a:off x="3342629" y="2174042"/>
            <a:ext cx="1140669" cy="640517"/>
          </a:xfrm>
          <a:prstGeom prst="curvedConnector3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36">
                <a:extLst>
                  <a:ext uri="{FF2B5EF4-FFF2-40B4-BE49-F238E27FC236}">
                    <a16:creationId xmlns:a16="http://schemas.microsoft.com/office/drawing/2014/main" id="{DDAA9C00-7C54-4D57-9B5B-31CF901FCAF3}"/>
                  </a:ext>
                </a:extLst>
              </p:cNvPr>
              <p:cNvSpPr txBox="1"/>
              <p:nvPr/>
            </p:nvSpPr>
            <p:spPr>
              <a:xfrm>
                <a:off x="353219" y="3997761"/>
                <a:ext cx="6991081" cy="1724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CA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CA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CA" sz="200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CA" sz="200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CA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CA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CA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CA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CA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CA" sz="2000" i="1">
                                                <a:latin typeface="Cambria Math" panose="02040503050406030204" pitchFamily="18" charset="0"/>
                                              </a:rPr>
                                              <m:t> 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CA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A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CA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A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CA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p>
                                      <m:sSupPr>
                                        <m:ctrlPr>
                                          <a:rPr lang="en-CA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CA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CA" sz="2000" i="1">
                                                <a:latin typeface="Cambria Math" panose="02040503050406030204" pitchFamily="18" charset="0"/>
                                              </a:rPr>
                                              <m:t> 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  <m:r>
                                                  <a:rPr lang="en-CA" sz="2000" i="1"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CA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A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CA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A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29" name="TextBox 36">
                <a:extLst>
                  <a:ext uri="{FF2B5EF4-FFF2-40B4-BE49-F238E27FC236}">
                    <a16:creationId xmlns:a16="http://schemas.microsoft.com/office/drawing/2014/main" id="{DDAA9C00-7C54-4D57-9B5B-31CF901FC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19" y="3997761"/>
                <a:ext cx="6991081" cy="17247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404AE18A-C897-439D-B47C-2397750E2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95644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3CF002-F2A8-46FE-A670-5EED4E72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 TERM MEMORY (LSTM) NETWORKS</a:t>
            </a:r>
            <a:endParaRPr lang="es-C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587037E-3A38-421A-A746-613DE8D90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6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935B0B12-90F9-4CE2-9752-290B1D4EE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84475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0E83B9A-6BAC-4826-BC47-D14D0AB0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LSTM INTUITION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8D661F5-1CE8-4DF9-969E-3C7386E0B1CE}"/>
              </a:ext>
            </a:extLst>
          </p:cNvPr>
          <p:cNvSpPr/>
          <p:nvPr/>
        </p:nvSpPr>
        <p:spPr>
          <a:xfrm>
            <a:off x="388822" y="1389100"/>
            <a:ext cx="1326832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LSTM networks work better compared to vanilla RNN since they overcome vanishing gradient problem.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In practice, RNN fail to establish long term dependencies.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medium-content-serif-font"/>
              </a:rPr>
              <a:t>Reference: </a:t>
            </a:r>
            <a:r>
              <a:rPr lang="en-CA" sz="2000" dirty="0">
                <a:latin typeface="medium-content-serif-font"/>
                <a:hlinkClick r:id="rId2"/>
              </a:rPr>
              <a:t>https://colah.github.io/posts/2015-08-Understanding-LSTMs/</a:t>
            </a:r>
            <a:endParaRPr lang="en-CA" sz="2000" dirty="0">
              <a:latin typeface="medium-content-serif-fon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</p:txBody>
      </p:sp>
      <p:sp>
        <p:nvSpPr>
          <p:cNvPr id="7" name="Oval 126">
            <a:extLst>
              <a:ext uri="{FF2B5EF4-FFF2-40B4-BE49-F238E27FC236}">
                <a16:creationId xmlns:a16="http://schemas.microsoft.com/office/drawing/2014/main" id="{53C7A3C4-8A0C-4F4E-B989-174ADEFD619E}"/>
              </a:ext>
            </a:extLst>
          </p:cNvPr>
          <p:cNvSpPr/>
          <p:nvPr/>
        </p:nvSpPr>
        <p:spPr>
          <a:xfrm>
            <a:off x="10882091" y="3351625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125">
            <a:extLst>
              <a:ext uri="{FF2B5EF4-FFF2-40B4-BE49-F238E27FC236}">
                <a16:creationId xmlns:a16="http://schemas.microsoft.com/office/drawing/2014/main" id="{D5A04174-1256-41D6-84E0-645A73DD3C2F}"/>
              </a:ext>
            </a:extLst>
          </p:cNvPr>
          <p:cNvSpPr/>
          <p:nvPr/>
        </p:nvSpPr>
        <p:spPr>
          <a:xfrm>
            <a:off x="6442002" y="4896903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123">
            <a:extLst>
              <a:ext uri="{FF2B5EF4-FFF2-40B4-BE49-F238E27FC236}">
                <a16:creationId xmlns:a16="http://schemas.microsoft.com/office/drawing/2014/main" id="{94040786-79FF-4587-BB0B-7038B78E4B70}"/>
              </a:ext>
            </a:extLst>
          </p:cNvPr>
          <p:cNvSpPr/>
          <p:nvPr/>
        </p:nvSpPr>
        <p:spPr>
          <a:xfrm>
            <a:off x="1655788" y="4782446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122">
            <a:extLst>
              <a:ext uri="{FF2B5EF4-FFF2-40B4-BE49-F238E27FC236}">
                <a16:creationId xmlns:a16="http://schemas.microsoft.com/office/drawing/2014/main" id="{7F028265-6FE4-4F6C-8F79-079B7D16CECA}"/>
              </a:ext>
            </a:extLst>
          </p:cNvPr>
          <p:cNvSpPr/>
          <p:nvPr/>
        </p:nvSpPr>
        <p:spPr>
          <a:xfrm>
            <a:off x="3817828" y="3270729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7CB98C2-544C-4DFC-8980-9AD5EB4736EF}"/>
              </a:ext>
            </a:extLst>
          </p:cNvPr>
          <p:cNvSpPr/>
          <p:nvPr/>
        </p:nvSpPr>
        <p:spPr>
          <a:xfrm>
            <a:off x="2916195" y="6242612"/>
            <a:ext cx="97371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Reference: </a:t>
            </a:r>
            <a:r>
              <a:rPr lang="en-CA" sz="1200" dirty="0">
                <a:hlinkClick r:id="rId2"/>
              </a:rPr>
              <a:t>https://colah.github.io/posts/2015-08-Understanding-LSTMs/</a:t>
            </a:r>
            <a:endParaRPr lang="en-CA" sz="1200" dirty="0"/>
          </a:p>
          <a:p>
            <a:endParaRPr lang="en-CA" sz="1200" dirty="0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7BA1C0AD-0FA6-48FB-B6E0-B5DF156E4216}"/>
              </a:ext>
            </a:extLst>
          </p:cNvPr>
          <p:cNvSpPr>
            <a:spLocks/>
          </p:cNvSpPr>
          <p:nvPr/>
        </p:nvSpPr>
        <p:spPr>
          <a:xfrm>
            <a:off x="1704753" y="4833627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150126"/>
              </a:solidFill>
            </a:endParaRP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649083E6-2F2F-45C2-88AC-6CB8E2C0B227}"/>
              </a:ext>
            </a:extLst>
          </p:cNvPr>
          <p:cNvSpPr>
            <a:spLocks/>
          </p:cNvSpPr>
          <p:nvPr/>
        </p:nvSpPr>
        <p:spPr>
          <a:xfrm>
            <a:off x="1704753" y="4058037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7">
            <a:extLst>
              <a:ext uri="{FF2B5EF4-FFF2-40B4-BE49-F238E27FC236}">
                <a16:creationId xmlns:a16="http://schemas.microsoft.com/office/drawing/2014/main" id="{506A4F69-DC4A-400D-A53F-0CA4AB904351}"/>
              </a:ext>
            </a:extLst>
          </p:cNvPr>
          <p:cNvCxnSpPr>
            <a:stCxn id="12" idx="0"/>
            <a:endCxn id="13" idx="4"/>
          </p:cNvCxnSpPr>
          <p:nvPr/>
        </p:nvCxnSpPr>
        <p:spPr>
          <a:xfrm flipV="1">
            <a:off x="1887633" y="4423797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8">
            <a:extLst>
              <a:ext uri="{FF2B5EF4-FFF2-40B4-BE49-F238E27FC236}">
                <a16:creationId xmlns:a16="http://schemas.microsoft.com/office/drawing/2014/main" id="{0409BD46-C763-44A9-8057-C1852EE29D85}"/>
              </a:ext>
            </a:extLst>
          </p:cNvPr>
          <p:cNvSpPr>
            <a:spLocks/>
          </p:cNvSpPr>
          <p:nvPr/>
        </p:nvSpPr>
        <p:spPr>
          <a:xfrm>
            <a:off x="2416835" y="4058037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9">
            <a:extLst>
              <a:ext uri="{FF2B5EF4-FFF2-40B4-BE49-F238E27FC236}">
                <a16:creationId xmlns:a16="http://schemas.microsoft.com/office/drawing/2014/main" id="{7E04CDE0-EFB6-4B92-92AC-274F9A073679}"/>
              </a:ext>
            </a:extLst>
          </p:cNvPr>
          <p:cNvSpPr>
            <a:spLocks/>
          </p:cNvSpPr>
          <p:nvPr/>
        </p:nvSpPr>
        <p:spPr>
          <a:xfrm>
            <a:off x="3133271" y="4058037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20">
            <a:extLst>
              <a:ext uri="{FF2B5EF4-FFF2-40B4-BE49-F238E27FC236}">
                <a16:creationId xmlns:a16="http://schemas.microsoft.com/office/drawing/2014/main" id="{254A46D5-B000-41FA-8211-0CC750A5DFC1}"/>
              </a:ext>
            </a:extLst>
          </p:cNvPr>
          <p:cNvSpPr>
            <a:spLocks/>
          </p:cNvSpPr>
          <p:nvPr/>
        </p:nvSpPr>
        <p:spPr>
          <a:xfrm>
            <a:off x="3133271" y="3326517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" name="Straight Arrow Connector 21">
            <a:extLst>
              <a:ext uri="{FF2B5EF4-FFF2-40B4-BE49-F238E27FC236}">
                <a16:creationId xmlns:a16="http://schemas.microsoft.com/office/drawing/2014/main" id="{CF8B72D5-9CB8-4451-ACF8-A72428B14332}"/>
              </a:ext>
            </a:extLst>
          </p:cNvPr>
          <p:cNvCxnSpPr/>
          <p:nvPr/>
        </p:nvCxnSpPr>
        <p:spPr>
          <a:xfrm flipV="1">
            <a:off x="3316151" y="3681800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22">
            <a:extLst>
              <a:ext uri="{FF2B5EF4-FFF2-40B4-BE49-F238E27FC236}">
                <a16:creationId xmlns:a16="http://schemas.microsoft.com/office/drawing/2014/main" id="{2264A60B-D3F4-475A-8783-C3D7205EE805}"/>
              </a:ext>
            </a:extLst>
          </p:cNvPr>
          <p:cNvCxnSpPr>
            <a:stCxn id="13" idx="6"/>
            <a:endCxn id="15" idx="2"/>
          </p:cNvCxnSpPr>
          <p:nvPr/>
        </p:nvCxnSpPr>
        <p:spPr>
          <a:xfrm>
            <a:off x="2070513" y="4240917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3">
            <a:extLst>
              <a:ext uri="{FF2B5EF4-FFF2-40B4-BE49-F238E27FC236}">
                <a16:creationId xmlns:a16="http://schemas.microsoft.com/office/drawing/2014/main" id="{0073D852-FC1F-4A97-81AB-FCEF5F147C1C}"/>
              </a:ext>
            </a:extLst>
          </p:cNvPr>
          <p:cNvCxnSpPr/>
          <p:nvPr/>
        </p:nvCxnSpPr>
        <p:spPr>
          <a:xfrm>
            <a:off x="2782595" y="4223646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4">
            <a:extLst>
              <a:ext uri="{FF2B5EF4-FFF2-40B4-BE49-F238E27FC236}">
                <a16:creationId xmlns:a16="http://schemas.microsoft.com/office/drawing/2014/main" id="{01666194-D740-4B37-AF56-56DB0E6C7AB1}"/>
              </a:ext>
            </a:extLst>
          </p:cNvPr>
          <p:cNvSpPr>
            <a:spLocks/>
          </p:cNvSpPr>
          <p:nvPr/>
        </p:nvSpPr>
        <p:spPr>
          <a:xfrm>
            <a:off x="2416835" y="4833627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2" name="Straight Arrow Connector 25">
            <a:extLst>
              <a:ext uri="{FF2B5EF4-FFF2-40B4-BE49-F238E27FC236}">
                <a16:creationId xmlns:a16="http://schemas.microsoft.com/office/drawing/2014/main" id="{2BBD01B3-8BDF-4833-B0B5-4CB8C0482B5B}"/>
              </a:ext>
            </a:extLst>
          </p:cNvPr>
          <p:cNvCxnSpPr>
            <a:stCxn id="21" idx="0"/>
          </p:cNvCxnSpPr>
          <p:nvPr/>
        </p:nvCxnSpPr>
        <p:spPr>
          <a:xfrm flipV="1">
            <a:off x="2599715" y="4423797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6">
            <a:extLst>
              <a:ext uri="{FF2B5EF4-FFF2-40B4-BE49-F238E27FC236}">
                <a16:creationId xmlns:a16="http://schemas.microsoft.com/office/drawing/2014/main" id="{447211BE-5FDA-436F-AD2A-F4A1A72DD211}"/>
              </a:ext>
            </a:extLst>
          </p:cNvPr>
          <p:cNvSpPr>
            <a:spLocks/>
          </p:cNvSpPr>
          <p:nvPr/>
        </p:nvSpPr>
        <p:spPr>
          <a:xfrm>
            <a:off x="3167560" y="4833627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4" name="Straight Arrow Connector 27">
            <a:extLst>
              <a:ext uri="{FF2B5EF4-FFF2-40B4-BE49-F238E27FC236}">
                <a16:creationId xmlns:a16="http://schemas.microsoft.com/office/drawing/2014/main" id="{2824F41D-4BB9-4C48-9DE8-2E3D8CF4A706}"/>
              </a:ext>
            </a:extLst>
          </p:cNvPr>
          <p:cNvCxnSpPr>
            <a:stCxn id="23" idx="0"/>
          </p:cNvCxnSpPr>
          <p:nvPr/>
        </p:nvCxnSpPr>
        <p:spPr>
          <a:xfrm flipV="1">
            <a:off x="3350440" y="4423797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8">
            <a:extLst>
              <a:ext uri="{FF2B5EF4-FFF2-40B4-BE49-F238E27FC236}">
                <a16:creationId xmlns:a16="http://schemas.microsoft.com/office/drawing/2014/main" id="{7081269E-A460-4006-883C-045B41D27B30}"/>
              </a:ext>
            </a:extLst>
          </p:cNvPr>
          <p:cNvSpPr txBox="1"/>
          <p:nvPr/>
        </p:nvSpPr>
        <p:spPr>
          <a:xfrm>
            <a:off x="-58990" y="5271019"/>
            <a:ext cx="5621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RNN PERFORMS WELL SINCE THE GAP BETWEEN THE PREDICTION “GREEN” AND THE NECESSARY CONTEXT INFORMATION “TREE” IS SMALL</a:t>
            </a:r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C0F09E4E-3A7E-4E77-960A-8E3EC8C204E1}"/>
              </a:ext>
            </a:extLst>
          </p:cNvPr>
          <p:cNvSpPr>
            <a:spLocks/>
          </p:cNvSpPr>
          <p:nvPr/>
        </p:nvSpPr>
        <p:spPr>
          <a:xfrm>
            <a:off x="3818483" y="4058037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Arrow Connector 31">
            <a:extLst>
              <a:ext uri="{FF2B5EF4-FFF2-40B4-BE49-F238E27FC236}">
                <a16:creationId xmlns:a16="http://schemas.microsoft.com/office/drawing/2014/main" id="{1C23803C-30DC-459C-ADBB-944ACBAB0065}"/>
              </a:ext>
            </a:extLst>
          </p:cNvPr>
          <p:cNvCxnSpPr/>
          <p:nvPr/>
        </p:nvCxnSpPr>
        <p:spPr>
          <a:xfrm flipV="1">
            <a:off x="4035652" y="3681800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32">
            <a:extLst>
              <a:ext uri="{FF2B5EF4-FFF2-40B4-BE49-F238E27FC236}">
                <a16:creationId xmlns:a16="http://schemas.microsoft.com/office/drawing/2014/main" id="{8CA88506-063A-4B9F-9386-E5B0A7A593E3}"/>
              </a:ext>
            </a:extLst>
          </p:cNvPr>
          <p:cNvSpPr>
            <a:spLocks/>
          </p:cNvSpPr>
          <p:nvPr/>
        </p:nvSpPr>
        <p:spPr>
          <a:xfrm>
            <a:off x="3852772" y="4833627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30">
            <a:extLst>
              <a:ext uri="{FF2B5EF4-FFF2-40B4-BE49-F238E27FC236}">
                <a16:creationId xmlns:a16="http://schemas.microsoft.com/office/drawing/2014/main" id="{0A6DCA6C-08E7-47FC-A48F-E0911D9A4270}"/>
              </a:ext>
            </a:extLst>
          </p:cNvPr>
          <p:cNvSpPr>
            <a:spLocks/>
          </p:cNvSpPr>
          <p:nvPr/>
        </p:nvSpPr>
        <p:spPr>
          <a:xfrm>
            <a:off x="3865582" y="3318507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0" name="Straight Arrow Connector 33">
            <a:extLst>
              <a:ext uri="{FF2B5EF4-FFF2-40B4-BE49-F238E27FC236}">
                <a16:creationId xmlns:a16="http://schemas.microsoft.com/office/drawing/2014/main" id="{671BB73F-3F94-4794-AEA8-7EFA5D8E006F}"/>
              </a:ext>
            </a:extLst>
          </p:cNvPr>
          <p:cNvCxnSpPr>
            <a:stCxn id="28" idx="0"/>
          </p:cNvCxnSpPr>
          <p:nvPr/>
        </p:nvCxnSpPr>
        <p:spPr>
          <a:xfrm flipV="1">
            <a:off x="4035652" y="4423797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4">
            <a:extLst>
              <a:ext uri="{FF2B5EF4-FFF2-40B4-BE49-F238E27FC236}">
                <a16:creationId xmlns:a16="http://schemas.microsoft.com/office/drawing/2014/main" id="{7DCAD84A-CC9E-445B-A964-EB5AACF38ACF}"/>
              </a:ext>
            </a:extLst>
          </p:cNvPr>
          <p:cNvCxnSpPr/>
          <p:nvPr/>
        </p:nvCxnSpPr>
        <p:spPr>
          <a:xfrm>
            <a:off x="3499031" y="4240917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5">
                <a:extLst>
                  <a:ext uri="{FF2B5EF4-FFF2-40B4-BE49-F238E27FC236}">
                    <a16:creationId xmlns:a16="http://schemas.microsoft.com/office/drawing/2014/main" id="{EA0EE93D-2F4B-4AD5-A27F-AD15F69B5A7E}"/>
                  </a:ext>
                </a:extLst>
              </p:cNvPr>
              <p:cNvSpPr txBox="1"/>
              <p:nvPr/>
            </p:nvSpPr>
            <p:spPr>
              <a:xfrm>
                <a:off x="1665583" y="478955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2" name="TextBox 5">
                <a:extLst>
                  <a:ext uri="{FF2B5EF4-FFF2-40B4-BE49-F238E27FC236}">
                    <a16:creationId xmlns:a16="http://schemas.microsoft.com/office/drawing/2014/main" id="{EA0EE93D-2F4B-4AD5-A27F-AD15F69B5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583" y="4789557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5">
                <a:extLst>
                  <a:ext uri="{FF2B5EF4-FFF2-40B4-BE49-F238E27FC236}">
                    <a16:creationId xmlns:a16="http://schemas.microsoft.com/office/drawing/2014/main" id="{F34D0D5B-8255-4B41-9D67-6546F1570E07}"/>
                  </a:ext>
                </a:extLst>
              </p:cNvPr>
              <p:cNvSpPr txBox="1"/>
              <p:nvPr/>
            </p:nvSpPr>
            <p:spPr>
              <a:xfrm>
                <a:off x="2366670" y="4789557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3" name="TextBox 35">
                <a:extLst>
                  <a:ext uri="{FF2B5EF4-FFF2-40B4-BE49-F238E27FC236}">
                    <a16:creationId xmlns:a16="http://schemas.microsoft.com/office/drawing/2014/main" id="{F34D0D5B-8255-4B41-9D67-6546F1570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670" y="4789557"/>
                <a:ext cx="4607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6">
                <a:extLst>
                  <a:ext uri="{FF2B5EF4-FFF2-40B4-BE49-F238E27FC236}">
                    <a16:creationId xmlns:a16="http://schemas.microsoft.com/office/drawing/2014/main" id="{B0AB168E-2939-4C43-A56F-5C4DADF780A0}"/>
                  </a:ext>
                </a:extLst>
              </p:cNvPr>
              <p:cNvSpPr txBox="1"/>
              <p:nvPr/>
            </p:nvSpPr>
            <p:spPr>
              <a:xfrm>
                <a:off x="3158408" y="478955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4" name="TextBox 36">
                <a:extLst>
                  <a:ext uri="{FF2B5EF4-FFF2-40B4-BE49-F238E27FC236}">
                    <a16:creationId xmlns:a16="http://schemas.microsoft.com/office/drawing/2014/main" id="{B0AB168E-2939-4C43-A56F-5C4DADF78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408" y="4789557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7">
                <a:extLst>
                  <a:ext uri="{FF2B5EF4-FFF2-40B4-BE49-F238E27FC236}">
                    <a16:creationId xmlns:a16="http://schemas.microsoft.com/office/drawing/2014/main" id="{7EBF0F08-01DC-4704-8DB6-1E6E88BEA333}"/>
                  </a:ext>
                </a:extLst>
              </p:cNvPr>
              <p:cNvSpPr txBox="1"/>
              <p:nvPr/>
            </p:nvSpPr>
            <p:spPr>
              <a:xfrm>
                <a:off x="3816530" y="478955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5" name="TextBox 37">
                <a:extLst>
                  <a:ext uri="{FF2B5EF4-FFF2-40B4-BE49-F238E27FC236}">
                    <a16:creationId xmlns:a16="http://schemas.microsoft.com/office/drawing/2014/main" id="{7EBF0F08-01DC-4704-8DB6-1E6E88BEA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530" y="4789557"/>
                <a:ext cx="46609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40">
            <a:extLst>
              <a:ext uri="{FF2B5EF4-FFF2-40B4-BE49-F238E27FC236}">
                <a16:creationId xmlns:a16="http://schemas.microsoft.com/office/drawing/2014/main" id="{7D337013-607F-4DC9-97E2-8DCF7A84ED04}"/>
              </a:ext>
            </a:extLst>
          </p:cNvPr>
          <p:cNvSpPr>
            <a:spLocks/>
          </p:cNvSpPr>
          <p:nvPr/>
        </p:nvSpPr>
        <p:spPr>
          <a:xfrm>
            <a:off x="1681458" y="3320170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7" name="Straight Arrow Connector 41">
            <a:extLst>
              <a:ext uri="{FF2B5EF4-FFF2-40B4-BE49-F238E27FC236}">
                <a16:creationId xmlns:a16="http://schemas.microsoft.com/office/drawing/2014/main" id="{7ACFC652-96E0-409A-A564-E4C9CA88CF3D}"/>
              </a:ext>
            </a:extLst>
          </p:cNvPr>
          <p:cNvCxnSpPr/>
          <p:nvPr/>
        </p:nvCxnSpPr>
        <p:spPr>
          <a:xfrm flipV="1">
            <a:off x="1864338" y="3675453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42">
            <a:extLst>
              <a:ext uri="{FF2B5EF4-FFF2-40B4-BE49-F238E27FC236}">
                <a16:creationId xmlns:a16="http://schemas.microsoft.com/office/drawing/2014/main" id="{436D3774-21B3-4C80-BF6A-CE9A91C24E12}"/>
              </a:ext>
            </a:extLst>
          </p:cNvPr>
          <p:cNvSpPr>
            <a:spLocks/>
          </p:cNvSpPr>
          <p:nvPr/>
        </p:nvSpPr>
        <p:spPr>
          <a:xfrm>
            <a:off x="2404958" y="3320170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9" name="Straight Arrow Connector 43">
            <a:extLst>
              <a:ext uri="{FF2B5EF4-FFF2-40B4-BE49-F238E27FC236}">
                <a16:creationId xmlns:a16="http://schemas.microsoft.com/office/drawing/2014/main" id="{1F271E8B-C313-40D8-BDC0-1F70871626FE}"/>
              </a:ext>
            </a:extLst>
          </p:cNvPr>
          <p:cNvCxnSpPr/>
          <p:nvPr/>
        </p:nvCxnSpPr>
        <p:spPr>
          <a:xfrm flipV="1">
            <a:off x="2583839" y="3675453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BD811E8-C0E8-40E9-A484-4D24CD9C9633}"/>
                  </a:ext>
                </a:extLst>
              </p:cNvPr>
              <p:cNvSpPr txBox="1"/>
              <p:nvPr/>
            </p:nvSpPr>
            <p:spPr>
              <a:xfrm>
                <a:off x="1665583" y="3265623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BD811E8-C0E8-40E9-A484-4D24CD9C9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583" y="3265623"/>
                <a:ext cx="47314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4">
                <a:extLst>
                  <a:ext uri="{FF2B5EF4-FFF2-40B4-BE49-F238E27FC236}">
                    <a16:creationId xmlns:a16="http://schemas.microsoft.com/office/drawing/2014/main" id="{AEC990BE-FB75-495F-8496-69932B9C614C}"/>
                  </a:ext>
                </a:extLst>
              </p:cNvPr>
              <p:cNvSpPr txBox="1"/>
              <p:nvPr/>
            </p:nvSpPr>
            <p:spPr>
              <a:xfrm>
                <a:off x="2385412" y="3264885"/>
                <a:ext cx="467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1" name="TextBox 44">
                <a:extLst>
                  <a:ext uri="{FF2B5EF4-FFF2-40B4-BE49-F238E27FC236}">
                    <a16:creationId xmlns:a16="http://schemas.microsoft.com/office/drawing/2014/main" id="{AEC990BE-FB75-495F-8496-69932B9C6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412" y="3264885"/>
                <a:ext cx="46782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5">
                <a:extLst>
                  <a:ext uri="{FF2B5EF4-FFF2-40B4-BE49-F238E27FC236}">
                    <a16:creationId xmlns:a16="http://schemas.microsoft.com/office/drawing/2014/main" id="{28D11EBA-57B4-4088-84A2-FE53A5BFEA2C}"/>
                  </a:ext>
                </a:extLst>
              </p:cNvPr>
              <p:cNvSpPr txBox="1"/>
              <p:nvPr/>
            </p:nvSpPr>
            <p:spPr>
              <a:xfrm>
                <a:off x="3090705" y="3288404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2" name="TextBox 45">
                <a:extLst>
                  <a:ext uri="{FF2B5EF4-FFF2-40B4-BE49-F238E27FC236}">
                    <a16:creationId xmlns:a16="http://schemas.microsoft.com/office/drawing/2014/main" id="{28D11EBA-57B4-4088-84A2-FE53A5BFE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705" y="3288404"/>
                <a:ext cx="47314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7">
                <a:extLst>
                  <a:ext uri="{FF2B5EF4-FFF2-40B4-BE49-F238E27FC236}">
                    <a16:creationId xmlns:a16="http://schemas.microsoft.com/office/drawing/2014/main" id="{CDB47B0E-02B8-4BB8-9DF8-BEB159AD3046}"/>
                  </a:ext>
                </a:extLst>
              </p:cNvPr>
              <p:cNvSpPr txBox="1"/>
              <p:nvPr/>
            </p:nvSpPr>
            <p:spPr>
              <a:xfrm>
                <a:off x="1674216" y="402759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3" name="TextBox 47">
                <a:extLst>
                  <a:ext uri="{FF2B5EF4-FFF2-40B4-BE49-F238E27FC236}">
                    <a16:creationId xmlns:a16="http://schemas.microsoft.com/office/drawing/2014/main" id="{CDB47B0E-02B8-4BB8-9DF8-BEB159AD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16" y="4027590"/>
                <a:ext cx="38568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8">
                <a:extLst>
                  <a:ext uri="{FF2B5EF4-FFF2-40B4-BE49-F238E27FC236}">
                    <a16:creationId xmlns:a16="http://schemas.microsoft.com/office/drawing/2014/main" id="{512BDC03-9D49-4F8B-A3B3-CA33E8301FEB}"/>
                  </a:ext>
                </a:extLst>
              </p:cNvPr>
              <p:cNvSpPr txBox="1"/>
              <p:nvPr/>
            </p:nvSpPr>
            <p:spPr>
              <a:xfrm>
                <a:off x="2397895" y="403898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4" name="TextBox 48">
                <a:extLst>
                  <a:ext uri="{FF2B5EF4-FFF2-40B4-BE49-F238E27FC236}">
                    <a16:creationId xmlns:a16="http://schemas.microsoft.com/office/drawing/2014/main" id="{512BDC03-9D49-4F8B-A3B3-CA33E8301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895" y="4038980"/>
                <a:ext cx="38568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6">
                <a:extLst>
                  <a:ext uri="{FF2B5EF4-FFF2-40B4-BE49-F238E27FC236}">
                    <a16:creationId xmlns:a16="http://schemas.microsoft.com/office/drawing/2014/main" id="{0DD183D2-F7B4-46E5-8C5E-102C147A0F34}"/>
                  </a:ext>
                </a:extLst>
              </p:cNvPr>
              <p:cNvSpPr txBox="1"/>
              <p:nvPr/>
            </p:nvSpPr>
            <p:spPr>
              <a:xfrm>
                <a:off x="3825824" y="3301403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5" name="TextBox 46">
                <a:extLst>
                  <a:ext uri="{FF2B5EF4-FFF2-40B4-BE49-F238E27FC236}">
                    <a16:creationId xmlns:a16="http://schemas.microsoft.com/office/drawing/2014/main" id="{0DD183D2-F7B4-46E5-8C5E-102C147A0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824" y="3301403"/>
                <a:ext cx="47314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9">
                <a:extLst>
                  <a:ext uri="{FF2B5EF4-FFF2-40B4-BE49-F238E27FC236}">
                    <a16:creationId xmlns:a16="http://schemas.microsoft.com/office/drawing/2014/main" id="{A8DD59AA-7996-4D98-9971-4D5168DECFF1}"/>
                  </a:ext>
                </a:extLst>
              </p:cNvPr>
              <p:cNvSpPr txBox="1"/>
              <p:nvPr/>
            </p:nvSpPr>
            <p:spPr>
              <a:xfrm>
                <a:off x="3090705" y="404317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6" name="TextBox 49">
                <a:extLst>
                  <a:ext uri="{FF2B5EF4-FFF2-40B4-BE49-F238E27FC236}">
                    <a16:creationId xmlns:a16="http://schemas.microsoft.com/office/drawing/2014/main" id="{A8DD59AA-7996-4D98-9971-4D5168DEC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705" y="4043170"/>
                <a:ext cx="38568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50">
                <a:extLst>
                  <a:ext uri="{FF2B5EF4-FFF2-40B4-BE49-F238E27FC236}">
                    <a16:creationId xmlns:a16="http://schemas.microsoft.com/office/drawing/2014/main" id="{8187F9A5-3566-430A-A04A-56D1F5F8D896}"/>
                  </a:ext>
                </a:extLst>
              </p:cNvPr>
              <p:cNvSpPr txBox="1"/>
              <p:nvPr/>
            </p:nvSpPr>
            <p:spPr>
              <a:xfrm>
                <a:off x="3798366" y="403600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7" name="TextBox 50">
                <a:extLst>
                  <a:ext uri="{FF2B5EF4-FFF2-40B4-BE49-F238E27FC236}">
                    <a16:creationId xmlns:a16="http://schemas.microsoft.com/office/drawing/2014/main" id="{8187F9A5-3566-430A-A04A-56D1F5F8D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366" y="4036002"/>
                <a:ext cx="38568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6">
            <a:extLst>
              <a:ext uri="{FF2B5EF4-FFF2-40B4-BE49-F238E27FC236}">
                <a16:creationId xmlns:a16="http://schemas.microsoft.com/office/drawing/2014/main" id="{B0F07FA2-5375-4F31-B5C2-3CF58A8B7602}"/>
              </a:ext>
            </a:extLst>
          </p:cNvPr>
          <p:cNvSpPr txBox="1"/>
          <p:nvPr/>
        </p:nvSpPr>
        <p:spPr>
          <a:xfrm>
            <a:off x="1118119" y="2356231"/>
            <a:ext cx="3785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1" dirty="0">
                <a:solidFill>
                  <a:srgbClr val="FF0000"/>
                </a:solidFill>
              </a:rPr>
              <a:t>The tree color is “green”</a:t>
            </a:r>
          </a:p>
        </p:txBody>
      </p:sp>
      <p:sp>
        <p:nvSpPr>
          <p:cNvPr id="49" name="Oval 51">
            <a:extLst>
              <a:ext uri="{FF2B5EF4-FFF2-40B4-BE49-F238E27FC236}">
                <a16:creationId xmlns:a16="http://schemas.microsoft.com/office/drawing/2014/main" id="{92EABE84-325E-482B-AD69-4FC6DF929DCE}"/>
              </a:ext>
            </a:extLst>
          </p:cNvPr>
          <p:cNvSpPr>
            <a:spLocks/>
          </p:cNvSpPr>
          <p:nvPr/>
        </p:nvSpPr>
        <p:spPr>
          <a:xfrm>
            <a:off x="6485103" y="4943359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150126"/>
              </a:solidFill>
            </a:endParaRPr>
          </a:p>
        </p:txBody>
      </p:sp>
      <p:sp>
        <p:nvSpPr>
          <p:cNvPr id="50" name="Oval 52">
            <a:extLst>
              <a:ext uri="{FF2B5EF4-FFF2-40B4-BE49-F238E27FC236}">
                <a16:creationId xmlns:a16="http://schemas.microsoft.com/office/drawing/2014/main" id="{024059B6-195D-4B45-A42C-014FF4B4D58D}"/>
              </a:ext>
            </a:extLst>
          </p:cNvPr>
          <p:cNvSpPr>
            <a:spLocks/>
          </p:cNvSpPr>
          <p:nvPr/>
        </p:nvSpPr>
        <p:spPr>
          <a:xfrm>
            <a:off x="6485103" y="4167769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1" name="Straight Arrow Connector 53">
            <a:extLst>
              <a:ext uri="{FF2B5EF4-FFF2-40B4-BE49-F238E27FC236}">
                <a16:creationId xmlns:a16="http://schemas.microsoft.com/office/drawing/2014/main" id="{4D338C94-440F-4299-B6B8-E230CB63F57A}"/>
              </a:ext>
            </a:extLst>
          </p:cNvPr>
          <p:cNvCxnSpPr>
            <a:stCxn id="49" idx="0"/>
            <a:endCxn id="50" idx="4"/>
          </p:cNvCxnSpPr>
          <p:nvPr/>
        </p:nvCxnSpPr>
        <p:spPr>
          <a:xfrm flipV="1">
            <a:off x="6667983" y="4533529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4">
            <a:extLst>
              <a:ext uri="{FF2B5EF4-FFF2-40B4-BE49-F238E27FC236}">
                <a16:creationId xmlns:a16="http://schemas.microsoft.com/office/drawing/2014/main" id="{FE0E2041-0F80-4422-8D77-7A4E05D727AD}"/>
              </a:ext>
            </a:extLst>
          </p:cNvPr>
          <p:cNvSpPr>
            <a:spLocks/>
          </p:cNvSpPr>
          <p:nvPr/>
        </p:nvSpPr>
        <p:spPr>
          <a:xfrm>
            <a:off x="7197185" y="4167769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Oval 55">
            <a:extLst>
              <a:ext uri="{FF2B5EF4-FFF2-40B4-BE49-F238E27FC236}">
                <a16:creationId xmlns:a16="http://schemas.microsoft.com/office/drawing/2014/main" id="{187C41C9-F58F-443C-BA7F-AE5A3CD56207}"/>
              </a:ext>
            </a:extLst>
          </p:cNvPr>
          <p:cNvSpPr>
            <a:spLocks/>
          </p:cNvSpPr>
          <p:nvPr/>
        </p:nvSpPr>
        <p:spPr>
          <a:xfrm>
            <a:off x="7913621" y="4167769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Oval 56">
            <a:extLst>
              <a:ext uri="{FF2B5EF4-FFF2-40B4-BE49-F238E27FC236}">
                <a16:creationId xmlns:a16="http://schemas.microsoft.com/office/drawing/2014/main" id="{66D3C2FB-383E-4E99-B01F-6B7432AB5ADA}"/>
              </a:ext>
            </a:extLst>
          </p:cNvPr>
          <p:cNvSpPr>
            <a:spLocks/>
          </p:cNvSpPr>
          <p:nvPr/>
        </p:nvSpPr>
        <p:spPr>
          <a:xfrm>
            <a:off x="7913621" y="3436249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5" name="Straight Arrow Connector 57">
            <a:extLst>
              <a:ext uri="{FF2B5EF4-FFF2-40B4-BE49-F238E27FC236}">
                <a16:creationId xmlns:a16="http://schemas.microsoft.com/office/drawing/2014/main" id="{C0803BD5-1920-4E2E-AC16-8A898B4E94F9}"/>
              </a:ext>
            </a:extLst>
          </p:cNvPr>
          <p:cNvCxnSpPr/>
          <p:nvPr/>
        </p:nvCxnSpPr>
        <p:spPr>
          <a:xfrm flipV="1">
            <a:off x="8096501" y="3791532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8">
            <a:extLst>
              <a:ext uri="{FF2B5EF4-FFF2-40B4-BE49-F238E27FC236}">
                <a16:creationId xmlns:a16="http://schemas.microsoft.com/office/drawing/2014/main" id="{931FDE84-BC8F-4331-9879-811229B7EA3F}"/>
              </a:ext>
            </a:extLst>
          </p:cNvPr>
          <p:cNvCxnSpPr>
            <a:stCxn id="50" idx="6"/>
            <a:endCxn id="52" idx="2"/>
          </p:cNvCxnSpPr>
          <p:nvPr/>
        </p:nvCxnSpPr>
        <p:spPr>
          <a:xfrm>
            <a:off x="6850863" y="4350649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9">
            <a:extLst>
              <a:ext uri="{FF2B5EF4-FFF2-40B4-BE49-F238E27FC236}">
                <a16:creationId xmlns:a16="http://schemas.microsoft.com/office/drawing/2014/main" id="{D63E1F54-1DF0-47EC-93C4-D667F91EB552}"/>
              </a:ext>
            </a:extLst>
          </p:cNvPr>
          <p:cNvCxnSpPr/>
          <p:nvPr/>
        </p:nvCxnSpPr>
        <p:spPr>
          <a:xfrm>
            <a:off x="7562945" y="4333378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60">
            <a:extLst>
              <a:ext uri="{FF2B5EF4-FFF2-40B4-BE49-F238E27FC236}">
                <a16:creationId xmlns:a16="http://schemas.microsoft.com/office/drawing/2014/main" id="{A145472D-0DAE-45A2-843A-DAB79E2D15CB}"/>
              </a:ext>
            </a:extLst>
          </p:cNvPr>
          <p:cNvSpPr>
            <a:spLocks/>
          </p:cNvSpPr>
          <p:nvPr/>
        </p:nvSpPr>
        <p:spPr>
          <a:xfrm>
            <a:off x="7197185" y="4943359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9" name="Straight Arrow Connector 61">
            <a:extLst>
              <a:ext uri="{FF2B5EF4-FFF2-40B4-BE49-F238E27FC236}">
                <a16:creationId xmlns:a16="http://schemas.microsoft.com/office/drawing/2014/main" id="{998B9D60-C583-40EA-9425-0A95172A36C9}"/>
              </a:ext>
            </a:extLst>
          </p:cNvPr>
          <p:cNvCxnSpPr>
            <a:stCxn id="58" idx="0"/>
          </p:cNvCxnSpPr>
          <p:nvPr/>
        </p:nvCxnSpPr>
        <p:spPr>
          <a:xfrm flipV="1">
            <a:off x="7380065" y="4533529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62">
            <a:extLst>
              <a:ext uri="{FF2B5EF4-FFF2-40B4-BE49-F238E27FC236}">
                <a16:creationId xmlns:a16="http://schemas.microsoft.com/office/drawing/2014/main" id="{4E3B20B5-AE42-48A1-AE4E-699DDAB994FC}"/>
              </a:ext>
            </a:extLst>
          </p:cNvPr>
          <p:cNvSpPr>
            <a:spLocks/>
          </p:cNvSpPr>
          <p:nvPr/>
        </p:nvSpPr>
        <p:spPr>
          <a:xfrm>
            <a:off x="7947910" y="4943359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1" name="Straight Arrow Connector 63">
            <a:extLst>
              <a:ext uri="{FF2B5EF4-FFF2-40B4-BE49-F238E27FC236}">
                <a16:creationId xmlns:a16="http://schemas.microsoft.com/office/drawing/2014/main" id="{4F68FCC8-36ED-4864-A547-8B4FB5B93460}"/>
              </a:ext>
            </a:extLst>
          </p:cNvPr>
          <p:cNvCxnSpPr>
            <a:stCxn id="60" idx="0"/>
          </p:cNvCxnSpPr>
          <p:nvPr/>
        </p:nvCxnSpPr>
        <p:spPr>
          <a:xfrm flipV="1">
            <a:off x="8130790" y="4533529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4">
            <a:extLst>
              <a:ext uri="{FF2B5EF4-FFF2-40B4-BE49-F238E27FC236}">
                <a16:creationId xmlns:a16="http://schemas.microsoft.com/office/drawing/2014/main" id="{0A326C5F-152D-4CAC-94DA-93032C13E11B}"/>
              </a:ext>
            </a:extLst>
          </p:cNvPr>
          <p:cNvSpPr>
            <a:spLocks/>
          </p:cNvSpPr>
          <p:nvPr/>
        </p:nvSpPr>
        <p:spPr>
          <a:xfrm>
            <a:off x="8598833" y="4167769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Oval 65">
            <a:extLst>
              <a:ext uri="{FF2B5EF4-FFF2-40B4-BE49-F238E27FC236}">
                <a16:creationId xmlns:a16="http://schemas.microsoft.com/office/drawing/2014/main" id="{F36A6352-BF9D-447B-B81C-274F576F5D81}"/>
              </a:ext>
            </a:extLst>
          </p:cNvPr>
          <p:cNvSpPr>
            <a:spLocks/>
          </p:cNvSpPr>
          <p:nvPr/>
        </p:nvSpPr>
        <p:spPr>
          <a:xfrm>
            <a:off x="8645932" y="3428239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4" name="Straight Arrow Connector 66">
            <a:extLst>
              <a:ext uri="{FF2B5EF4-FFF2-40B4-BE49-F238E27FC236}">
                <a16:creationId xmlns:a16="http://schemas.microsoft.com/office/drawing/2014/main" id="{D56092FF-7CA0-48B9-BC51-A3375C53B603}"/>
              </a:ext>
            </a:extLst>
          </p:cNvPr>
          <p:cNvCxnSpPr/>
          <p:nvPr/>
        </p:nvCxnSpPr>
        <p:spPr>
          <a:xfrm flipV="1">
            <a:off x="8816002" y="3791532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7">
            <a:extLst>
              <a:ext uri="{FF2B5EF4-FFF2-40B4-BE49-F238E27FC236}">
                <a16:creationId xmlns:a16="http://schemas.microsoft.com/office/drawing/2014/main" id="{13A7F215-4CF1-4149-87E2-243B8F7E1FDD}"/>
              </a:ext>
            </a:extLst>
          </p:cNvPr>
          <p:cNvSpPr>
            <a:spLocks/>
          </p:cNvSpPr>
          <p:nvPr/>
        </p:nvSpPr>
        <p:spPr>
          <a:xfrm>
            <a:off x="8633122" y="4943359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6" name="Straight Arrow Connector 68">
            <a:extLst>
              <a:ext uri="{FF2B5EF4-FFF2-40B4-BE49-F238E27FC236}">
                <a16:creationId xmlns:a16="http://schemas.microsoft.com/office/drawing/2014/main" id="{1C2FB9FF-C2A4-4055-8917-80C16CD63BBC}"/>
              </a:ext>
            </a:extLst>
          </p:cNvPr>
          <p:cNvCxnSpPr>
            <a:stCxn id="65" idx="0"/>
          </p:cNvCxnSpPr>
          <p:nvPr/>
        </p:nvCxnSpPr>
        <p:spPr>
          <a:xfrm flipV="1">
            <a:off x="8816002" y="4533529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9">
            <a:extLst>
              <a:ext uri="{FF2B5EF4-FFF2-40B4-BE49-F238E27FC236}">
                <a16:creationId xmlns:a16="http://schemas.microsoft.com/office/drawing/2014/main" id="{3A1BABFF-C947-4E86-BE52-5E50A94173E1}"/>
              </a:ext>
            </a:extLst>
          </p:cNvPr>
          <p:cNvCxnSpPr/>
          <p:nvPr/>
        </p:nvCxnSpPr>
        <p:spPr>
          <a:xfrm>
            <a:off x="8279381" y="4350649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70">
                <a:extLst>
                  <a:ext uri="{FF2B5EF4-FFF2-40B4-BE49-F238E27FC236}">
                    <a16:creationId xmlns:a16="http://schemas.microsoft.com/office/drawing/2014/main" id="{9232ACD0-2EC0-4034-9E68-30A2559B854F}"/>
                  </a:ext>
                </a:extLst>
              </p:cNvPr>
              <p:cNvSpPr txBox="1"/>
              <p:nvPr/>
            </p:nvSpPr>
            <p:spPr>
              <a:xfrm>
                <a:off x="6445933" y="489928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8" name="TextBox 70">
                <a:extLst>
                  <a:ext uri="{FF2B5EF4-FFF2-40B4-BE49-F238E27FC236}">
                    <a16:creationId xmlns:a16="http://schemas.microsoft.com/office/drawing/2014/main" id="{9232ACD0-2EC0-4034-9E68-30A2559B8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933" y="4899289"/>
                <a:ext cx="4660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71">
                <a:extLst>
                  <a:ext uri="{FF2B5EF4-FFF2-40B4-BE49-F238E27FC236}">
                    <a16:creationId xmlns:a16="http://schemas.microsoft.com/office/drawing/2014/main" id="{D31039EE-74BC-4974-9B3C-400380FB8C72}"/>
                  </a:ext>
                </a:extLst>
              </p:cNvPr>
              <p:cNvSpPr txBox="1"/>
              <p:nvPr/>
            </p:nvSpPr>
            <p:spPr>
              <a:xfrm>
                <a:off x="7147020" y="489928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9" name="TextBox 71">
                <a:extLst>
                  <a:ext uri="{FF2B5EF4-FFF2-40B4-BE49-F238E27FC236}">
                    <a16:creationId xmlns:a16="http://schemas.microsoft.com/office/drawing/2014/main" id="{D31039EE-74BC-4974-9B3C-400380FB8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020" y="4899289"/>
                <a:ext cx="46076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72">
                <a:extLst>
                  <a:ext uri="{FF2B5EF4-FFF2-40B4-BE49-F238E27FC236}">
                    <a16:creationId xmlns:a16="http://schemas.microsoft.com/office/drawing/2014/main" id="{02906D93-4169-4053-8508-8E49C4CB0445}"/>
                  </a:ext>
                </a:extLst>
              </p:cNvPr>
              <p:cNvSpPr txBox="1"/>
              <p:nvPr/>
            </p:nvSpPr>
            <p:spPr>
              <a:xfrm>
                <a:off x="7938758" y="489928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0" name="TextBox 72">
                <a:extLst>
                  <a:ext uri="{FF2B5EF4-FFF2-40B4-BE49-F238E27FC236}">
                    <a16:creationId xmlns:a16="http://schemas.microsoft.com/office/drawing/2014/main" id="{02906D93-4169-4053-8508-8E49C4CB0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758" y="4899289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3">
                <a:extLst>
                  <a:ext uri="{FF2B5EF4-FFF2-40B4-BE49-F238E27FC236}">
                    <a16:creationId xmlns:a16="http://schemas.microsoft.com/office/drawing/2014/main" id="{190FCB33-429D-4796-8BC3-A1D85DB265F5}"/>
                  </a:ext>
                </a:extLst>
              </p:cNvPr>
              <p:cNvSpPr txBox="1"/>
              <p:nvPr/>
            </p:nvSpPr>
            <p:spPr>
              <a:xfrm>
                <a:off x="8596880" y="489928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1" name="TextBox 73">
                <a:extLst>
                  <a:ext uri="{FF2B5EF4-FFF2-40B4-BE49-F238E27FC236}">
                    <a16:creationId xmlns:a16="http://schemas.microsoft.com/office/drawing/2014/main" id="{190FCB33-429D-4796-8BC3-A1D85DB26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880" y="4899289"/>
                <a:ext cx="46609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4">
            <a:extLst>
              <a:ext uri="{FF2B5EF4-FFF2-40B4-BE49-F238E27FC236}">
                <a16:creationId xmlns:a16="http://schemas.microsoft.com/office/drawing/2014/main" id="{4A4C4578-F843-4175-A434-65E1F2B9B2C8}"/>
              </a:ext>
            </a:extLst>
          </p:cNvPr>
          <p:cNvSpPr>
            <a:spLocks/>
          </p:cNvSpPr>
          <p:nvPr/>
        </p:nvSpPr>
        <p:spPr>
          <a:xfrm>
            <a:off x="6461808" y="3429902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3" name="Straight Arrow Connector 75">
            <a:extLst>
              <a:ext uri="{FF2B5EF4-FFF2-40B4-BE49-F238E27FC236}">
                <a16:creationId xmlns:a16="http://schemas.microsoft.com/office/drawing/2014/main" id="{570ED1C2-50F6-450C-8327-27386B4CCF8D}"/>
              </a:ext>
            </a:extLst>
          </p:cNvPr>
          <p:cNvCxnSpPr/>
          <p:nvPr/>
        </p:nvCxnSpPr>
        <p:spPr>
          <a:xfrm flipV="1">
            <a:off x="6644688" y="3785185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6">
            <a:extLst>
              <a:ext uri="{FF2B5EF4-FFF2-40B4-BE49-F238E27FC236}">
                <a16:creationId xmlns:a16="http://schemas.microsoft.com/office/drawing/2014/main" id="{5B4971D1-E19D-4076-AE74-619DFF95C401}"/>
              </a:ext>
            </a:extLst>
          </p:cNvPr>
          <p:cNvSpPr>
            <a:spLocks/>
          </p:cNvSpPr>
          <p:nvPr/>
        </p:nvSpPr>
        <p:spPr>
          <a:xfrm>
            <a:off x="7185308" y="3429902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5" name="Straight Arrow Connector 77">
            <a:extLst>
              <a:ext uri="{FF2B5EF4-FFF2-40B4-BE49-F238E27FC236}">
                <a16:creationId xmlns:a16="http://schemas.microsoft.com/office/drawing/2014/main" id="{8C6B50BB-E031-4C0B-A7BA-AE9076429ABB}"/>
              </a:ext>
            </a:extLst>
          </p:cNvPr>
          <p:cNvCxnSpPr/>
          <p:nvPr/>
        </p:nvCxnSpPr>
        <p:spPr>
          <a:xfrm flipV="1">
            <a:off x="7364189" y="3785185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8">
                <a:extLst>
                  <a:ext uri="{FF2B5EF4-FFF2-40B4-BE49-F238E27FC236}">
                    <a16:creationId xmlns:a16="http://schemas.microsoft.com/office/drawing/2014/main" id="{B02CA844-B70A-4516-9A33-71F871443A5E}"/>
                  </a:ext>
                </a:extLst>
              </p:cNvPr>
              <p:cNvSpPr txBox="1"/>
              <p:nvPr/>
            </p:nvSpPr>
            <p:spPr>
              <a:xfrm>
                <a:off x="6445933" y="3375355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6" name="TextBox 78">
                <a:extLst>
                  <a:ext uri="{FF2B5EF4-FFF2-40B4-BE49-F238E27FC236}">
                    <a16:creationId xmlns:a16="http://schemas.microsoft.com/office/drawing/2014/main" id="{B02CA844-B70A-4516-9A33-71F871443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933" y="3375355"/>
                <a:ext cx="47314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9">
                <a:extLst>
                  <a:ext uri="{FF2B5EF4-FFF2-40B4-BE49-F238E27FC236}">
                    <a16:creationId xmlns:a16="http://schemas.microsoft.com/office/drawing/2014/main" id="{FCE6BA3B-DFF1-4360-94D7-4534C0CB9D40}"/>
                  </a:ext>
                </a:extLst>
              </p:cNvPr>
              <p:cNvSpPr txBox="1"/>
              <p:nvPr/>
            </p:nvSpPr>
            <p:spPr>
              <a:xfrm>
                <a:off x="7165762" y="3374617"/>
                <a:ext cx="467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7" name="TextBox 79">
                <a:extLst>
                  <a:ext uri="{FF2B5EF4-FFF2-40B4-BE49-F238E27FC236}">
                    <a16:creationId xmlns:a16="http://schemas.microsoft.com/office/drawing/2014/main" id="{FCE6BA3B-DFF1-4360-94D7-4534C0CB9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762" y="3374617"/>
                <a:ext cx="46782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80">
                <a:extLst>
                  <a:ext uri="{FF2B5EF4-FFF2-40B4-BE49-F238E27FC236}">
                    <a16:creationId xmlns:a16="http://schemas.microsoft.com/office/drawing/2014/main" id="{C7749A3C-32A9-438E-A484-D099190B8E82}"/>
                  </a:ext>
                </a:extLst>
              </p:cNvPr>
              <p:cNvSpPr txBox="1"/>
              <p:nvPr/>
            </p:nvSpPr>
            <p:spPr>
              <a:xfrm>
                <a:off x="7871055" y="3398136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8" name="TextBox 80">
                <a:extLst>
                  <a:ext uri="{FF2B5EF4-FFF2-40B4-BE49-F238E27FC236}">
                    <a16:creationId xmlns:a16="http://schemas.microsoft.com/office/drawing/2014/main" id="{C7749A3C-32A9-438E-A484-D099190B8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055" y="3398136"/>
                <a:ext cx="47314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81">
                <a:extLst>
                  <a:ext uri="{FF2B5EF4-FFF2-40B4-BE49-F238E27FC236}">
                    <a16:creationId xmlns:a16="http://schemas.microsoft.com/office/drawing/2014/main" id="{86FEE835-E036-4910-9D14-6A9A4A73E94E}"/>
                  </a:ext>
                </a:extLst>
              </p:cNvPr>
              <p:cNvSpPr txBox="1"/>
              <p:nvPr/>
            </p:nvSpPr>
            <p:spPr>
              <a:xfrm>
                <a:off x="8605995" y="3382498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9" name="TextBox 81">
                <a:extLst>
                  <a:ext uri="{FF2B5EF4-FFF2-40B4-BE49-F238E27FC236}">
                    <a16:creationId xmlns:a16="http://schemas.microsoft.com/office/drawing/2014/main" id="{86FEE835-E036-4910-9D14-6A9A4A73E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995" y="3382498"/>
                <a:ext cx="47314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82">
                <a:extLst>
                  <a:ext uri="{FF2B5EF4-FFF2-40B4-BE49-F238E27FC236}">
                    <a16:creationId xmlns:a16="http://schemas.microsoft.com/office/drawing/2014/main" id="{868C7C6A-98DD-417F-9CB8-4EDC89D6984A}"/>
                  </a:ext>
                </a:extLst>
              </p:cNvPr>
              <p:cNvSpPr txBox="1"/>
              <p:nvPr/>
            </p:nvSpPr>
            <p:spPr>
              <a:xfrm>
                <a:off x="6454566" y="413732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0" name="TextBox 82">
                <a:extLst>
                  <a:ext uri="{FF2B5EF4-FFF2-40B4-BE49-F238E27FC236}">
                    <a16:creationId xmlns:a16="http://schemas.microsoft.com/office/drawing/2014/main" id="{868C7C6A-98DD-417F-9CB8-4EDC89D69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66" y="4137322"/>
                <a:ext cx="38568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3">
                <a:extLst>
                  <a:ext uri="{FF2B5EF4-FFF2-40B4-BE49-F238E27FC236}">
                    <a16:creationId xmlns:a16="http://schemas.microsoft.com/office/drawing/2014/main" id="{1FC763BE-48BC-4BA2-A19F-BFC8729AF8EF}"/>
                  </a:ext>
                </a:extLst>
              </p:cNvPr>
              <p:cNvSpPr txBox="1"/>
              <p:nvPr/>
            </p:nvSpPr>
            <p:spPr>
              <a:xfrm>
                <a:off x="7178245" y="414871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1" name="TextBox 83">
                <a:extLst>
                  <a:ext uri="{FF2B5EF4-FFF2-40B4-BE49-F238E27FC236}">
                    <a16:creationId xmlns:a16="http://schemas.microsoft.com/office/drawing/2014/main" id="{1FC763BE-48BC-4BA2-A19F-BFC8729AF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245" y="4148712"/>
                <a:ext cx="38568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4">
                <a:extLst>
                  <a:ext uri="{FF2B5EF4-FFF2-40B4-BE49-F238E27FC236}">
                    <a16:creationId xmlns:a16="http://schemas.microsoft.com/office/drawing/2014/main" id="{0EC3A18D-281C-4CEF-9CD5-5CA1390B7B2D}"/>
                  </a:ext>
                </a:extLst>
              </p:cNvPr>
              <p:cNvSpPr txBox="1"/>
              <p:nvPr/>
            </p:nvSpPr>
            <p:spPr>
              <a:xfrm>
                <a:off x="7871055" y="415290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2" name="TextBox 84">
                <a:extLst>
                  <a:ext uri="{FF2B5EF4-FFF2-40B4-BE49-F238E27FC236}">
                    <a16:creationId xmlns:a16="http://schemas.microsoft.com/office/drawing/2014/main" id="{0EC3A18D-281C-4CEF-9CD5-5CA1390B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055" y="4152902"/>
                <a:ext cx="385683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5">
                <a:extLst>
                  <a:ext uri="{FF2B5EF4-FFF2-40B4-BE49-F238E27FC236}">
                    <a16:creationId xmlns:a16="http://schemas.microsoft.com/office/drawing/2014/main" id="{A51FB5FD-323B-4F48-AE88-9AF96D14C99D}"/>
                  </a:ext>
                </a:extLst>
              </p:cNvPr>
              <p:cNvSpPr txBox="1"/>
              <p:nvPr/>
            </p:nvSpPr>
            <p:spPr>
              <a:xfrm>
                <a:off x="8578716" y="4145734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3" name="TextBox 85">
                <a:extLst>
                  <a:ext uri="{FF2B5EF4-FFF2-40B4-BE49-F238E27FC236}">
                    <a16:creationId xmlns:a16="http://schemas.microsoft.com/office/drawing/2014/main" id="{A51FB5FD-323B-4F48-AE88-9AF96D14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716" y="4145734"/>
                <a:ext cx="38568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87">
            <a:extLst>
              <a:ext uri="{FF2B5EF4-FFF2-40B4-BE49-F238E27FC236}">
                <a16:creationId xmlns:a16="http://schemas.microsoft.com/office/drawing/2014/main" id="{6D517CA5-D70C-4D09-8BA5-F55B3BFBDB30}"/>
              </a:ext>
            </a:extLst>
          </p:cNvPr>
          <p:cNvSpPr>
            <a:spLocks/>
          </p:cNvSpPr>
          <p:nvPr/>
        </p:nvSpPr>
        <p:spPr>
          <a:xfrm>
            <a:off x="9495162" y="4906428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150126"/>
              </a:solidFill>
            </a:endParaRPr>
          </a:p>
        </p:txBody>
      </p:sp>
      <p:sp>
        <p:nvSpPr>
          <p:cNvPr id="85" name="Oval 88">
            <a:extLst>
              <a:ext uri="{FF2B5EF4-FFF2-40B4-BE49-F238E27FC236}">
                <a16:creationId xmlns:a16="http://schemas.microsoft.com/office/drawing/2014/main" id="{0B8DFDD1-E7BA-4906-8E14-79E57251FD3D}"/>
              </a:ext>
            </a:extLst>
          </p:cNvPr>
          <p:cNvSpPr>
            <a:spLocks/>
          </p:cNvSpPr>
          <p:nvPr/>
        </p:nvSpPr>
        <p:spPr>
          <a:xfrm>
            <a:off x="9495162" y="4130838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6" name="Straight Arrow Connector 89">
            <a:extLst>
              <a:ext uri="{FF2B5EF4-FFF2-40B4-BE49-F238E27FC236}">
                <a16:creationId xmlns:a16="http://schemas.microsoft.com/office/drawing/2014/main" id="{3E87FE01-2748-4BC5-9F72-C8859FCECCC8}"/>
              </a:ext>
            </a:extLst>
          </p:cNvPr>
          <p:cNvCxnSpPr>
            <a:stCxn id="84" idx="0"/>
            <a:endCxn id="85" idx="4"/>
          </p:cNvCxnSpPr>
          <p:nvPr/>
        </p:nvCxnSpPr>
        <p:spPr>
          <a:xfrm flipV="1">
            <a:off x="9678042" y="4496598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90">
            <a:extLst>
              <a:ext uri="{FF2B5EF4-FFF2-40B4-BE49-F238E27FC236}">
                <a16:creationId xmlns:a16="http://schemas.microsoft.com/office/drawing/2014/main" id="{CA676C4A-1E37-40C8-97B1-0DB85E9A0574}"/>
              </a:ext>
            </a:extLst>
          </p:cNvPr>
          <p:cNvSpPr>
            <a:spLocks/>
          </p:cNvSpPr>
          <p:nvPr/>
        </p:nvSpPr>
        <p:spPr>
          <a:xfrm>
            <a:off x="10207244" y="4130838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8" name="Oval 91">
            <a:extLst>
              <a:ext uri="{FF2B5EF4-FFF2-40B4-BE49-F238E27FC236}">
                <a16:creationId xmlns:a16="http://schemas.microsoft.com/office/drawing/2014/main" id="{F492BF8F-05DE-41DD-A74A-EC54299DA925}"/>
              </a:ext>
            </a:extLst>
          </p:cNvPr>
          <p:cNvSpPr>
            <a:spLocks/>
          </p:cNvSpPr>
          <p:nvPr/>
        </p:nvSpPr>
        <p:spPr>
          <a:xfrm>
            <a:off x="10923680" y="4130838"/>
            <a:ext cx="365760" cy="36576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Oval 92">
            <a:extLst>
              <a:ext uri="{FF2B5EF4-FFF2-40B4-BE49-F238E27FC236}">
                <a16:creationId xmlns:a16="http://schemas.microsoft.com/office/drawing/2014/main" id="{79162327-7236-48CF-A3C8-E512819FF006}"/>
              </a:ext>
            </a:extLst>
          </p:cNvPr>
          <p:cNvSpPr>
            <a:spLocks/>
          </p:cNvSpPr>
          <p:nvPr/>
        </p:nvSpPr>
        <p:spPr>
          <a:xfrm>
            <a:off x="10923680" y="3399318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0" name="Straight Arrow Connector 93">
            <a:extLst>
              <a:ext uri="{FF2B5EF4-FFF2-40B4-BE49-F238E27FC236}">
                <a16:creationId xmlns:a16="http://schemas.microsoft.com/office/drawing/2014/main" id="{FC22AB8E-A4CD-4720-AC68-728B7527D505}"/>
              </a:ext>
            </a:extLst>
          </p:cNvPr>
          <p:cNvCxnSpPr/>
          <p:nvPr/>
        </p:nvCxnSpPr>
        <p:spPr>
          <a:xfrm flipV="1">
            <a:off x="11106560" y="3754601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4">
            <a:extLst>
              <a:ext uri="{FF2B5EF4-FFF2-40B4-BE49-F238E27FC236}">
                <a16:creationId xmlns:a16="http://schemas.microsoft.com/office/drawing/2014/main" id="{397A6FA5-3EA3-4973-B816-815F6DE1D5E4}"/>
              </a:ext>
            </a:extLst>
          </p:cNvPr>
          <p:cNvCxnSpPr>
            <a:stCxn id="85" idx="6"/>
            <a:endCxn id="87" idx="2"/>
          </p:cNvCxnSpPr>
          <p:nvPr/>
        </p:nvCxnSpPr>
        <p:spPr>
          <a:xfrm>
            <a:off x="9860922" y="4313718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5">
            <a:extLst>
              <a:ext uri="{FF2B5EF4-FFF2-40B4-BE49-F238E27FC236}">
                <a16:creationId xmlns:a16="http://schemas.microsoft.com/office/drawing/2014/main" id="{586C0B73-19CD-4159-B431-B758DFB5B047}"/>
              </a:ext>
            </a:extLst>
          </p:cNvPr>
          <p:cNvCxnSpPr/>
          <p:nvPr/>
        </p:nvCxnSpPr>
        <p:spPr>
          <a:xfrm>
            <a:off x="10573004" y="4296447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6">
            <a:extLst>
              <a:ext uri="{FF2B5EF4-FFF2-40B4-BE49-F238E27FC236}">
                <a16:creationId xmlns:a16="http://schemas.microsoft.com/office/drawing/2014/main" id="{81D3447E-FAEA-4335-981E-01C1EAAF695D}"/>
              </a:ext>
            </a:extLst>
          </p:cNvPr>
          <p:cNvSpPr>
            <a:spLocks/>
          </p:cNvSpPr>
          <p:nvPr/>
        </p:nvSpPr>
        <p:spPr>
          <a:xfrm>
            <a:off x="10207244" y="4906428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4" name="Straight Arrow Connector 97">
            <a:extLst>
              <a:ext uri="{FF2B5EF4-FFF2-40B4-BE49-F238E27FC236}">
                <a16:creationId xmlns:a16="http://schemas.microsoft.com/office/drawing/2014/main" id="{B55852F3-524A-4044-A097-C16805FD5E08}"/>
              </a:ext>
            </a:extLst>
          </p:cNvPr>
          <p:cNvCxnSpPr>
            <a:stCxn id="93" idx="0"/>
          </p:cNvCxnSpPr>
          <p:nvPr/>
        </p:nvCxnSpPr>
        <p:spPr>
          <a:xfrm flipV="1">
            <a:off x="10390124" y="4496598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8">
            <a:extLst>
              <a:ext uri="{FF2B5EF4-FFF2-40B4-BE49-F238E27FC236}">
                <a16:creationId xmlns:a16="http://schemas.microsoft.com/office/drawing/2014/main" id="{340E4EB1-6D02-4533-84B0-16B1E0D7E7EF}"/>
              </a:ext>
            </a:extLst>
          </p:cNvPr>
          <p:cNvSpPr>
            <a:spLocks/>
          </p:cNvSpPr>
          <p:nvPr/>
        </p:nvSpPr>
        <p:spPr>
          <a:xfrm>
            <a:off x="10957969" y="4906428"/>
            <a:ext cx="365760" cy="3657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6" name="Straight Arrow Connector 99">
            <a:extLst>
              <a:ext uri="{FF2B5EF4-FFF2-40B4-BE49-F238E27FC236}">
                <a16:creationId xmlns:a16="http://schemas.microsoft.com/office/drawing/2014/main" id="{42A86D36-C8B0-4697-A599-BD6D0F0C3EEB}"/>
              </a:ext>
            </a:extLst>
          </p:cNvPr>
          <p:cNvCxnSpPr>
            <a:stCxn id="95" idx="0"/>
          </p:cNvCxnSpPr>
          <p:nvPr/>
        </p:nvCxnSpPr>
        <p:spPr>
          <a:xfrm flipV="1">
            <a:off x="11140849" y="4496598"/>
            <a:ext cx="0" cy="4098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105">
            <a:extLst>
              <a:ext uri="{FF2B5EF4-FFF2-40B4-BE49-F238E27FC236}">
                <a16:creationId xmlns:a16="http://schemas.microsoft.com/office/drawing/2014/main" id="{52D1AE90-D7FA-4499-A865-D519838C16AC}"/>
              </a:ext>
            </a:extLst>
          </p:cNvPr>
          <p:cNvCxnSpPr/>
          <p:nvPr/>
        </p:nvCxnSpPr>
        <p:spPr>
          <a:xfrm>
            <a:off x="11289440" y="4313718"/>
            <a:ext cx="346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106">
                <a:extLst>
                  <a:ext uri="{FF2B5EF4-FFF2-40B4-BE49-F238E27FC236}">
                    <a16:creationId xmlns:a16="http://schemas.microsoft.com/office/drawing/2014/main" id="{3492209F-3F2A-43A0-B144-3D6572DED482}"/>
                  </a:ext>
                </a:extLst>
              </p:cNvPr>
              <p:cNvSpPr txBox="1"/>
              <p:nvPr/>
            </p:nvSpPr>
            <p:spPr>
              <a:xfrm>
                <a:off x="9455992" y="4862358"/>
                <a:ext cx="4465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8" name="TextBox 106">
                <a:extLst>
                  <a:ext uri="{FF2B5EF4-FFF2-40B4-BE49-F238E27FC236}">
                    <a16:creationId xmlns:a16="http://schemas.microsoft.com/office/drawing/2014/main" id="{3492209F-3F2A-43A0-B144-3D6572DED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992" y="4862358"/>
                <a:ext cx="446532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107">
                <a:extLst>
                  <a:ext uri="{FF2B5EF4-FFF2-40B4-BE49-F238E27FC236}">
                    <a16:creationId xmlns:a16="http://schemas.microsoft.com/office/drawing/2014/main" id="{3BBE25C1-6624-4B40-AF06-1A7631D03D68}"/>
                  </a:ext>
                </a:extLst>
              </p:cNvPr>
              <p:cNvSpPr txBox="1"/>
              <p:nvPr/>
            </p:nvSpPr>
            <p:spPr>
              <a:xfrm>
                <a:off x="10119913" y="4911560"/>
                <a:ext cx="5577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CA" sz="1400" dirty="0"/>
              </a:p>
            </p:txBody>
          </p:sp>
        </mc:Choice>
        <mc:Fallback xmlns="">
          <p:sp>
            <p:nvSpPr>
              <p:cNvPr id="99" name="TextBox 107">
                <a:extLst>
                  <a:ext uri="{FF2B5EF4-FFF2-40B4-BE49-F238E27FC236}">
                    <a16:creationId xmlns:a16="http://schemas.microsoft.com/office/drawing/2014/main" id="{3BBE25C1-6624-4B40-AF06-1A7631D03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913" y="4911560"/>
                <a:ext cx="557781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108">
                <a:extLst>
                  <a:ext uri="{FF2B5EF4-FFF2-40B4-BE49-F238E27FC236}">
                    <a16:creationId xmlns:a16="http://schemas.microsoft.com/office/drawing/2014/main" id="{8CCFA9AD-AD1B-4080-ABAF-1660DA23DCBA}"/>
                  </a:ext>
                </a:extLst>
              </p:cNvPr>
              <p:cNvSpPr txBox="1"/>
              <p:nvPr/>
            </p:nvSpPr>
            <p:spPr>
              <a:xfrm>
                <a:off x="10877724" y="4909670"/>
                <a:ext cx="5577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i="1" dirty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CA" sz="1400" dirty="0"/>
              </a:p>
            </p:txBody>
          </p:sp>
        </mc:Choice>
        <mc:Fallback xmlns="">
          <p:sp>
            <p:nvSpPr>
              <p:cNvPr id="100" name="TextBox 108">
                <a:extLst>
                  <a:ext uri="{FF2B5EF4-FFF2-40B4-BE49-F238E27FC236}">
                    <a16:creationId xmlns:a16="http://schemas.microsoft.com/office/drawing/2014/main" id="{8CCFA9AD-AD1B-4080-ABAF-1660DA23D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724" y="4909670"/>
                <a:ext cx="557781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Oval 110">
            <a:extLst>
              <a:ext uri="{FF2B5EF4-FFF2-40B4-BE49-F238E27FC236}">
                <a16:creationId xmlns:a16="http://schemas.microsoft.com/office/drawing/2014/main" id="{B8DC99EE-F20C-4C52-AA8E-F57689FBCCA1}"/>
              </a:ext>
            </a:extLst>
          </p:cNvPr>
          <p:cNvSpPr>
            <a:spLocks/>
          </p:cNvSpPr>
          <p:nvPr/>
        </p:nvSpPr>
        <p:spPr>
          <a:xfrm>
            <a:off x="9471867" y="3392971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2" name="Straight Arrow Connector 111">
            <a:extLst>
              <a:ext uri="{FF2B5EF4-FFF2-40B4-BE49-F238E27FC236}">
                <a16:creationId xmlns:a16="http://schemas.microsoft.com/office/drawing/2014/main" id="{A6F12FEB-5F11-49C7-B61A-8FCF83B2487C}"/>
              </a:ext>
            </a:extLst>
          </p:cNvPr>
          <p:cNvCxnSpPr/>
          <p:nvPr/>
        </p:nvCxnSpPr>
        <p:spPr>
          <a:xfrm flipV="1">
            <a:off x="9654747" y="3748254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12">
            <a:extLst>
              <a:ext uri="{FF2B5EF4-FFF2-40B4-BE49-F238E27FC236}">
                <a16:creationId xmlns:a16="http://schemas.microsoft.com/office/drawing/2014/main" id="{BBDFC25B-B3AC-4E8E-9925-D96DD96DB29F}"/>
              </a:ext>
            </a:extLst>
          </p:cNvPr>
          <p:cNvSpPr>
            <a:spLocks/>
          </p:cNvSpPr>
          <p:nvPr/>
        </p:nvSpPr>
        <p:spPr>
          <a:xfrm>
            <a:off x="10195367" y="3392971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4" name="Straight Arrow Connector 113">
            <a:extLst>
              <a:ext uri="{FF2B5EF4-FFF2-40B4-BE49-F238E27FC236}">
                <a16:creationId xmlns:a16="http://schemas.microsoft.com/office/drawing/2014/main" id="{76E598C4-A8EC-4033-A1A0-6DF93C6381E6}"/>
              </a:ext>
            </a:extLst>
          </p:cNvPr>
          <p:cNvCxnSpPr/>
          <p:nvPr/>
        </p:nvCxnSpPr>
        <p:spPr>
          <a:xfrm flipV="1">
            <a:off x="10374248" y="3748254"/>
            <a:ext cx="0" cy="376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14">
                <a:extLst>
                  <a:ext uri="{FF2B5EF4-FFF2-40B4-BE49-F238E27FC236}">
                    <a16:creationId xmlns:a16="http://schemas.microsoft.com/office/drawing/2014/main" id="{21AEAA56-7AB8-4A25-A6D0-2C408093D81D}"/>
                  </a:ext>
                </a:extLst>
              </p:cNvPr>
              <p:cNvSpPr txBox="1"/>
              <p:nvPr/>
            </p:nvSpPr>
            <p:spPr>
              <a:xfrm>
                <a:off x="9455992" y="3338424"/>
                <a:ext cx="453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5" name="TextBox 114">
                <a:extLst>
                  <a:ext uri="{FF2B5EF4-FFF2-40B4-BE49-F238E27FC236}">
                    <a16:creationId xmlns:a16="http://schemas.microsoft.com/office/drawing/2014/main" id="{21AEAA56-7AB8-4A25-A6D0-2C408093D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992" y="3338424"/>
                <a:ext cx="453586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15">
                <a:extLst>
                  <a:ext uri="{FF2B5EF4-FFF2-40B4-BE49-F238E27FC236}">
                    <a16:creationId xmlns:a16="http://schemas.microsoft.com/office/drawing/2014/main" id="{E5FB7232-B0B4-46AA-83E7-C76CF739FD5F}"/>
                  </a:ext>
                </a:extLst>
              </p:cNvPr>
              <p:cNvSpPr txBox="1"/>
              <p:nvPr/>
            </p:nvSpPr>
            <p:spPr>
              <a:xfrm>
                <a:off x="10119908" y="3385651"/>
                <a:ext cx="5627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CA" sz="1400" dirty="0"/>
              </a:p>
            </p:txBody>
          </p:sp>
        </mc:Choice>
        <mc:Fallback xmlns="">
          <p:sp>
            <p:nvSpPr>
              <p:cNvPr id="106" name="TextBox 115">
                <a:extLst>
                  <a:ext uri="{FF2B5EF4-FFF2-40B4-BE49-F238E27FC236}">
                    <a16:creationId xmlns:a16="http://schemas.microsoft.com/office/drawing/2014/main" id="{E5FB7232-B0B4-46AA-83E7-C76CF739F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908" y="3385651"/>
                <a:ext cx="562718" cy="30777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16">
                <a:extLst>
                  <a:ext uri="{FF2B5EF4-FFF2-40B4-BE49-F238E27FC236}">
                    <a16:creationId xmlns:a16="http://schemas.microsoft.com/office/drawing/2014/main" id="{77C92A47-90CB-4338-A631-6F1C9246EA43}"/>
                  </a:ext>
                </a:extLst>
              </p:cNvPr>
              <p:cNvSpPr txBox="1"/>
              <p:nvPr/>
            </p:nvSpPr>
            <p:spPr>
              <a:xfrm>
                <a:off x="10825201" y="3409170"/>
                <a:ext cx="5627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1400" b="0" i="1" dirty="0" smtClean="0">
                              <a:solidFill>
                                <a:srgbClr val="150126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CA" sz="1400" dirty="0"/>
              </a:p>
            </p:txBody>
          </p:sp>
        </mc:Choice>
        <mc:Fallback xmlns="">
          <p:sp>
            <p:nvSpPr>
              <p:cNvPr id="107" name="TextBox 116">
                <a:extLst>
                  <a:ext uri="{FF2B5EF4-FFF2-40B4-BE49-F238E27FC236}">
                    <a16:creationId xmlns:a16="http://schemas.microsoft.com/office/drawing/2014/main" id="{77C92A47-90CB-4338-A631-6F1C9246E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201" y="3409170"/>
                <a:ext cx="562718" cy="30777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18">
                <a:extLst>
                  <a:ext uri="{FF2B5EF4-FFF2-40B4-BE49-F238E27FC236}">
                    <a16:creationId xmlns:a16="http://schemas.microsoft.com/office/drawing/2014/main" id="{45160600-B07D-4C1C-97B5-69615BEDB216}"/>
                  </a:ext>
                </a:extLst>
              </p:cNvPr>
              <p:cNvSpPr txBox="1"/>
              <p:nvPr/>
            </p:nvSpPr>
            <p:spPr>
              <a:xfrm>
                <a:off x="9464625" y="4100391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8" name="TextBox 118">
                <a:extLst>
                  <a:ext uri="{FF2B5EF4-FFF2-40B4-BE49-F238E27FC236}">
                    <a16:creationId xmlns:a16="http://schemas.microsoft.com/office/drawing/2014/main" id="{45160600-B07D-4C1C-97B5-69615BEDB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4625" y="4100391"/>
                <a:ext cx="385683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19">
                <a:extLst>
                  <a:ext uri="{FF2B5EF4-FFF2-40B4-BE49-F238E27FC236}">
                    <a16:creationId xmlns:a16="http://schemas.microsoft.com/office/drawing/2014/main" id="{2D60EB38-6129-40C5-B5EC-A2C0CE1A69BA}"/>
                  </a:ext>
                </a:extLst>
              </p:cNvPr>
              <p:cNvSpPr txBox="1"/>
              <p:nvPr/>
            </p:nvSpPr>
            <p:spPr>
              <a:xfrm>
                <a:off x="10188304" y="4111781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9" name="TextBox 119">
                <a:extLst>
                  <a:ext uri="{FF2B5EF4-FFF2-40B4-BE49-F238E27FC236}">
                    <a16:creationId xmlns:a16="http://schemas.microsoft.com/office/drawing/2014/main" id="{2D60EB38-6129-40C5-B5EC-A2C0CE1A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8304" y="4111781"/>
                <a:ext cx="385683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20">
                <a:extLst>
                  <a:ext uri="{FF2B5EF4-FFF2-40B4-BE49-F238E27FC236}">
                    <a16:creationId xmlns:a16="http://schemas.microsoft.com/office/drawing/2014/main" id="{81BBB156-E0D2-475F-9FF2-6F1E6C4AF9F5}"/>
                  </a:ext>
                </a:extLst>
              </p:cNvPr>
              <p:cNvSpPr txBox="1"/>
              <p:nvPr/>
            </p:nvSpPr>
            <p:spPr>
              <a:xfrm>
                <a:off x="10881114" y="4115971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15012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0" name="TextBox 120">
                <a:extLst>
                  <a:ext uri="{FF2B5EF4-FFF2-40B4-BE49-F238E27FC236}">
                    <a16:creationId xmlns:a16="http://schemas.microsoft.com/office/drawing/2014/main" id="{81BBB156-E0D2-475F-9FF2-6F1E6C4AF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114" y="4115971"/>
                <a:ext cx="385683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Box 127">
            <a:extLst>
              <a:ext uri="{FF2B5EF4-FFF2-40B4-BE49-F238E27FC236}">
                <a16:creationId xmlns:a16="http://schemas.microsoft.com/office/drawing/2014/main" id="{24AD6BC6-EE33-467B-8F18-83F6B1E8A4CF}"/>
              </a:ext>
            </a:extLst>
          </p:cNvPr>
          <p:cNvSpPr txBox="1"/>
          <p:nvPr/>
        </p:nvSpPr>
        <p:spPr>
          <a:xfrm>
            <a:off x="6324599" y="5289519"/>
            <a:ext cx="5621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RNN PERFORMS POORLY WHEN THE GAP BETWEEN THE PREDICTION “COLD” AND THE NECESSARY CONTEXT INFORMATION “CANADA” IS LARGE</a:t>
            </a:r>
          </a:p>
        </p:txBody>
      </p:sp>
      <p:pic>
        <p:nvPicPr>
          <p:cNvPr id="112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E23BACDC-A177-4B5E-8169-C8C5FED6F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667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21" grpId="0" animBg="1"/>
      <p:bldP spid="23" grpId="0" animBg="1"/>
      <p:bldP spid="25" grpId="0"/>
      <p:bldP spid="26" grpId="0" animBg="1"/>
      <p:bldP spid="28" grpId="0" animBg="1"/>
      <p:bldP spid="29" grpId="0" animBg="1"/>
      <p:bldP spid="32" grpId="0"/>
      <p:bldP spid="33" grpId="0"/>
      <p:bldP spid="34" grpId="0"/>
      <p:bldP spid="35" grpId="0"/>
      <p:bldP spid="36" grpId="0" animBg="1"/>
      <p:bldP spid="38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 animBg="1"/>
      <p:bldP spid="50" grpId="0" animBg="1"/>
      <p:bldP spid="52" grpId="0" animBg="1"/>
      <p:bldP spid="53" grpId="0" animBg="1"/>
      <p:bldP spid="54" grpId="0" animBg="1"/>
      <p:bldP spid="58" grpId="0" animBg="1"/>
      <p:bldP spid="60" grpId="0" animBg="1"/>
      <p:bldP spid="62" grpId="0" animBg="1"/>
      <p:bldP spid="63" grpId="0" animBg="1"/>
      <p:bldP spid="65" grpId="0" animBg="1"/>
      <p:bldP spid="68" grpId="0"/>
      <p:bldP spid="69" grpId="0"/>
      <p:bldP spid="70" grpId="0"/>
      <p:bldP spid="71" grpId="0"/>
      <p:bldP spid="72" grpId="0" animBg="1"/>
      <p:bldP spid="74" grpId="0" animBg="1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 animBg="1"/>
      <p:bldP spid="85" grpId="0" animBg="1"/>
      <p:bldP spid="87" grpId="0" animBg="1"/>
      <p:bldP spid="88" grpId="0" animBg="1"/>
      <p:bldP spid="89" grpId="0" animBg="1"/>
      <p:bldP spid="93" grpId="0" animBg="1"/>
      <p:bldP spid="95" grpId="0" animBg="1"/>
      <p:bldP spid="98" grpId="0"/>
      <p:bldP spid="99" grpId="0"/>
      <p:bldP spid="100" grpId="0"/>
      <p:bldP spid="101" grpId="0" animBg="1"/>
      <p:bldP spid="103" grpId="0" animBg="1"/>
      <p:bldP spid="105" grpId="0"/>
      <p:bldP spid="106" grpId="0"/>
      <p:bldP spid="107" grpId="0"/>
      <p:bldP spid="108" grpId="0"/>
      <p:bldP spid="109" grpId="0"/>
      <p:bldP spid="110" grpId="0"/>
      <p:bldP spid="1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479FF-47E5-42EE-8F77-D7308EEA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INTUITION</a:t>
            </a:r>
            <a:endParaRPr lang="es-CR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A8949AD-8E55-464D-BB9E-E43DDEA7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72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LSTM networks are type of RNN that are designed to remember long term dependencies by default.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LSTM can remember and recall information for a prolonged period of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Recall that each line represents a full vector.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</p:txBody>
      </p:sp>
      <p:sp>
        <p:nvSpPr>
          <p:cNvPr id="5" name="TextBox 129">
            <a:extLst>
              <a:ext uri="{FF2B5EF4-FFF2-40B4-BE49-F238E27FC236}">
                <a16:creationId xmlns:a16="http://schemas.microsoft.com/office/drawing/2014/main" id="{67F443FE-25D9-4C8A-B169-C367B4A2F7B4}"/>
              </a:ext>
            </a:extLst>
          </p:cNvPr>
          <p:cNvSpPr txBox="1"/>
          <p:nvPr/>
        </p:nvSpPr>
        <p:spPr>
          <a:xfrm>
            <a:off x="6096000" y="2886555"/>
            <a:ext cx="562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THIS HORIZONTAL LINE (MEMORY) OR CELL STATE ENABLES LSTM TO REMEMBER VERY OLD INFORMTION 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C8D82B36-ADA5-4A43-8292-53CAA800EF88}"/>
              </a:ext>
            </a:extLst>
          </p:cNvPr>
          <p:cNvSpPr/>
          <p:nvPr/>
        </p:nvSpPr>
        <p:spPr>
          <a:xfrm>
            <a:off x="3145945" y="6249672"/>
            <a:ext cx="61389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/>
              <a:t>Reference and Photo Credit: </a:t>
            </a:r>
            <a:r>
              <a:rPr lang="en-CA" dirty="0">
                <a:hlinkClick r:id="rId2"/>
              </a:rPr>
              <a:t>https://colah.github.io/posts/2015-08-Understanding-LSTMs/</a:t>
            </a:r>
            <a:endParaRPr lang="en-CA" dirty="0"/>
          </a:p>
          <a:p>
            <a:endParaRPr lang="en-CA" dirty="0"/>
          </a:p>
        </p:txBody>
      </p:sp>
      <p:pic>
        <p:nvPicPr>
          <p:cNvPr id="14" name="Picture 2" descr="https://colah.github.io/posts/2015-08-Understanding-LSTMs/img/LSTM3-SimpleRNN.png">
            <a:extLst>
              <a:ext uri="{FF2B5EF4-FFF2-40B4-BE49-F238E27FC236}">
                <a16:creationId xmlns:a16="http://schemas.microsoft.com/office/drawing/2014/main" id="{C91FDA78-3612-418A-B4BE-F446DC5BA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65" y="3794510"/>
            <a:ext cx="5095016" cy="190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A LSTM neural network.">
            <a:extLst>
              <a:ext uri="{FF2B5EF4-FFF2-40B4-BE49-F238E27FC236}">
                <a16:creationId xmlns:a16="http://schemas.microsoft.com/office/drawing/2014/main" id="{F8D8D9EA-3FD5-4B5A-A391-DA27213CB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657" y="3708358"/>
            <a:ext cx="5095016" cy="191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17">
            <a:extLst>
              <a:ext uri="{FF2B5EF4-FFF2-40B4-BE49-F238E27FC236}">
                <a16:creationId xmlns:a16="http://schemas.microsoft.com/office/drawing/2014/main" id="{C8FEF397-B476-46D7-817E-8CE14DD7E7FD}"/>
              </a:ext>
            </a:extLst>
          </p:cNvPr>
          <p:cNvSpPr txBox="1"/>
          <p:nvPr/>
        </p:nvSpPr>
        <p:spPr>
          <a:xfrm>
            <a:off x="177783" y="5779631"/>
            <a:ext cx="562159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VANILLA RECURRENT NEURAL NETWORK</a:t>
            </a:r>
          </a:p>
        </p:txBody>
      </p:sp>
      <p:sp>
        <p:nvSpPr>
          <p:cNvPr id="17" name="TextBox 121">
            <a:extLst>
              <a:ext uri="{FF2B5EF4-FFF2-40B4-BE49-F238E27FC236}">
                <a16:creationId xmlns:a16="http://schemas.microsoft.com/office/drawing/2014/main" id="{70B45268-B266-4902-84B8-F7DE08EEB99D}"/>
              </a:ext>
            </a:extLst>
          </p:cNvPr>
          <p:cNvSpPr txBox="1"/>
          <p:nvPr/>
        </p:nvSpPr>
        <p:spPr>
          <a:xfrm>
            <a:off x="6016073" y="5779631"/>
            <a:ext cx="562159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LONG SHORT TERM MEMORY NETWORK</a:t>
            </a:r>
          </a:p>
        </p:txBody>
      </p:sp>
      <p:cxnSp>
        <p:nvCxnSpPr>
          <p:cNvPr id="18" name="Curved Connector 128">
            <a:extLst>
              <a:ext uri="{FF2B5EF4-FFF2-40B4-BE49-F238E27FC236}">
                <a16:creationId xmlns:a16="http://schemas.microsoft.com/office/drawing/2014/main" id="{C8D91D4A-2AF4-430C-A879-8DE7A36C215E}"/>
              </a:ext>
            </a:extLst>
          </p:cNvPr>
          <p:cNvCxnSpPr/>
          <p:nvPr/>
        </p:nvCxnSpPr>
        <p:spPr>
          <a:xfrm>
            <a:off x="7951350" y="3532886"/>
            <a:ext cx="1333500" cy="838200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5">
            <a:extLst>
              <a:ext uri="{FF2B5EF4-FFF2-40B4-BE49-F238E27FC236}">
                <a16:creationId xmlns:a16="http://schemas.microsoft.com/office/drawing/2014/main" id="{B69E83F5-957D-4FBB-9CE4-4FF89E96E175}"/>
              </a:ext>
            </a:extLst>
          </p:cNvPr>
          <p:cNvCxnSpPr/>
          <p:nvPr/>
        </p:nvCxnSpPr>
        <p:spPr>
          <a:xfrm>
            <a:off x="6333657" y="4432046"/>
            <a:ext cx="495021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83D170E3-42E7-49B2-8EBE-D3774F522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2934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AF01CE-2605-4202-A0DA-4C671CBB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INTUITION – GATES</a:t>
            </a:r>
            <a:endParaRPr lang="es-CR" dirty="0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44F6437-DF7A-4977-8772-526CAD72B66F}"/>
              </a:ext>
            </a:extLst>
          </p:cNvPr>
          <p:cNvSpPr/>
          <p:nvPr/>
        </p:nvSpPr>
        <p:spPr>
          <a:xfrm>
            <a:off x="838200" y="1403996"/>
            <a:ext cx="132683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LSTM contains gates that can allow or block information from passing by.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Gates consist of a sigmoid neural net layer along with a pointwise multiplication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Sigmoid output ranges from 0 to 1: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0 = Don’t allow any data to flow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1 = Allow everything to flow!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medium-content-serif-font"/>
            </a:endParaRPr>
          </a:p>
        </p:txBody>
      </p:sp>
      <p:pic>
        <p:nvPicPr>
          <p:cNvPr id="5" name="Picture 2" descr="File:LSTM.png">
            <a:extLst>
              <a:ext uri="{FF2B5EF4-FFF2-40B4-BE49-F238E27FC236}">
                <a16:creationId xmlns:a16="http://schemas.microsoft.com/office/drawing/2014/main" id="{46EA7895-9D37-46AC-A897-7F5C058160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70"/>
          <a:stretch/>
        </p:blipFill>
        <p:spPr bwMode="auto">
          <a:xfrm>
            <a:off x="3143595" y="2955974"/>
            <a:ext cx="5904810" cy="353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9">
            <a:extLst>
              <a:ext uri="{FF2B5EF4-FFF2-40B4-BE49-F238E27FC236}">
                <a16:creationId xmlns:a16="http://schemas.microsoft.com/office/drawing/2014/main" id="{CF04D98B-B59D-4902-814C-D471CC939216}"/>
              </a:ext>
            </a:extLst>
          </p:cNvPr>
          <p:cNvSpPr txBox="1"/>
          <p:nvPr/>
        </p:nvSpPr>
        <p:spPr>
          <a:xfrm>
            <a:off x="2043996" y="3460524"/>
            <a:ext cx="1800296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FORGET GATE</a:t>
            </a: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76DA9189-97E0-4466-A2DE-2560E6F67F9F}"/>
              </a:ext>
            </a:extLst>
          </p:cNvPr>
          <p:cNvSpPr/>
          <p:nvPr/>
        </p:nvSpPr>
        <p:spPr>
          <a:xfrm>
            <a:off x="4442810" y="4096444"/>
            <a:ext cx="687816" cy="164646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78213628-A344-462F-AAB1-E27AAD95FE5F}"/>
              </a:ext>
            </a:extLst>
          </p:cNvPr>
          <p:cNvSpPr/>
          <p:nvPr/>
        </p:nvSpPr>
        <p:spPr>
          <a:xfrm rot="19654546">
            <a:off x="4999972" y="4812304"/>
            <a:ext cx="1372712" cy="634167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Curved Connector 28">
            <a:extLst>
              <a:ext uri="{FF2B5EF4-FFF2-40B4-BE49-F238E27FC236}">
                <a16:creationId xmlns:a16="http://schemas.microsoft.com/office/drawing/2014/main" id="{19D4E540-1D67-477D-85D9-9B3528523036}"/>
              </a:ext>
            </a:extLst>
          </p:cNvPr>
          <p:cNvCxnSpPr>
            <a:stCxn id="10" idx="3"/>
          </p:cNvCxnSpPr>
          <p:nvPr/>
        </p:nvCxnSpPr>
        <p:spPr>
          <a:xfrm rot="16200000" flipH="1">
            <a:off x="7270304" y="5029116"/>
            <a:ext cx="894292" cy="2102363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29">
            <a:extLst>
              <a:ext uri="{FF2B5EF4-FFF2-40B4-BE49-F238E27FC236}">
                <a16:creationId xmlns:a16="http://schemas.microsoft.com/office/drawing/2014/main" id="{246D8D54-4092-4F44-9538-D6825285D4D4}"/>
              </a:ext>
            </a:extLst>
          </p:cNvPr>
          <p:cNvSpPr/>
          <p:nvPr/>
        </p:nvSpPr>
        <p:spPr>
          <a:xfrm rot="19619845">
            <a:off x="6277033" y="4870702"/>
            <a:ext cx="1305615" cy="64158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Curved Connector 35">
            <a:extLst>
              <a:ext uri="{FF2B5EF4-FFF2-40B4-BE49-F238E27FC236}">
                <a16:creationId xmlns:a16="http://schemas.microsoft.com/office/drawing/2014/main" id="{0B95FC4B-AC0F-45CF-AE6A-066B7C724F2F}"/>
              </a:ext>
            </a:extLst>
          </p:cNvPr>
          <p:cNvCxnSpPr>
            <a:stCxn id="7" idx="2"/>
            <a:endCxn id="6" idx="2"/>
          </p:cNvCxnSpPr>
          <p:nvPr/>
        </p:nvCxnSpPr>
        <p:spPr>
          <a:xfrm rot="10800000">
            <a:off x="2944144" y="3829857"/>
            <a:ext cx="1498666" cy="1089821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40">
            <a:extLst>
              <a:ext uri="{FF2B5EF4-FFF2-40B4-BE49-F238E27FC236}">
                <a16:creationId xmlns:a16="http://schemas.microsoft.com/office/drawing/2014/main" id="{D0BE4CFC-15AD-4B71-989D-51185C28CB85}"/>
              </a:ext>
            </a:extLst>
          </p:cNvPr>
          <p:cNvCxnSpPr>
            <a:stCxn id="8" idx="6"/>
          </p:cNvCxnSpPr>
          <p:nvPr/>
        </p:nvCxnSpPr>
        <p:spPr>
          <a:xfrm flipV="1">
            <a:off x="6265682" y="3414142"/>
            <a:ext cx="1774643" cy="134723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44">
            <a:extLst>
              <a:ext uri="{FF2B5EF4-FFF2-40B4-BE49-F238E27FC236}">
                <a16:creationId xmlns:a16="http://schemas.microsoft.com/office/drawing/2014/main" id="{0AC7760F-2157-4343-8010-FC83AEE85BE3}"/>
              </a:ext>
            </a:extLst>
          </p:cNvPr>
          <p:cNvSpPr txBox="1"/>
          <p:nvPr/>
        </p:nvSpPr>
        <p:spPr>
          <a:xfrm>
            <a:off x="8048531" y="3256444"/>
            <a:ext cx="1800296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INPUT GATE</a:t>
            </a:r>
          </a:p>
        </p:txBody>
      </p:sp>
      <p:sp>
        <p:nvSpPr>
          <p:cNvPr id="14" name="TextBox 51">
            <a:extLst>
              <a:ext uri="{FF2B5EF4-FFF2-40B4-BE49-F238E27FC236}">
                <a16:creationId xmlns:a16="http://schemas.microsoft.com/office/drawing/2014/main" id="{DC916164-2E17-4182-9828-CCB3CF6C5BDC}"/>
              </a:ext>
            </a:extLst>
          </p:cNvPr>
          <p:cNvSpPr txBox="1"/>
          <p:nvPr/>
        </p:nvSpPr>
        <p:spPr>
          <a:xfrm>
            <a:off x="8768632" y="6254622"/>
            <a:ext cx="1800296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OUTPUT GATE</a:t>
            </a:r>
          </a:p>
        </p:txBody>
      </p:sp>
      <p:pic>
        <p:nvPicPr>
          <p:cNvPr id="15" name="Picture 2" descr="Image result for valve">
            <a:extLst>
              <a:ext uri="{FF2B5EF4-FFF2-40B4-BE49-F238E27FC236}">
                <a16:creationId xmlns:a16="http://schemas.microsoft.com/office/drawing/2014/main" id="{F6BD0587-082F-43C3-A973-8323A82B7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402" y="3886687"/>
            <a:ext cx="815184" cy="108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A06ADE5C-F730-49BA-8ED3-86CC1C23B455}"/>
              </a:ext>
            </a:extLst>
          </p:cNvPr>
          <p:cNvSpPr/>
          <p:nvPr/>
        </p:nvSpPr>
        <p:spPr>
          <a:xfrm>
            <a:off x="3138185" y="6388640"/>
            <a:ext cx="6138905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100" b="1" dirty="0"/>
              <a:t>Reference and Photo Credit: </a:t>
            </a:r>
            <a:r>
              <a:rPr lang="en-CA" sz="1100" dirty="0">
                <a:hlinkClick r:id="rId4"/>
              </a:rPr>
              <a:t>https://colah.github.io/posts/2015-08-Understanding-LSTMs/</a:t>
            </a:r>
            <a:endParaRPr lang="en-CA" sz="1100" dirty="0"/>
          </a:p>
          <a:p>
            <a:r>
              <a:rPr lang="en-CA" sz="1100" b="1" dirty="0"/>
              <a:t>Photo Credit: </a:t>
            </a:r>
            <a:r>
              <a:rPr lang="en-CA" sz="1100" dirty="0">
                <a:hlinkClick r:id="rId5"/>
              </a:rPr>
              <a:t>https://commons.wikimedia.org/wiki/File:LSTM.png</a:t>
            </a:r>
            <a:endParaRPr lang="en-CA" sz="1100" dirty="0"/>
          </a:p>
          <a:p>
            <a:endParaRPr lang="en-CA" sz="1100" dirty="0"/>
          </a:p>
          <a:p>
            <a:endParaRPr lang="en-CA" sz="1100" dirty="0"/>
          </a:p>
          <a:p>
            <a:endParaRPr lang="en-CA" sz="1100" dirty="0"/>
          </a:p>
        </p:txBody>
      </p:sp>
      <p:pic>
        <p:nvPicPr>
          <p:cNvPr id="17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7BE5C339-5BE4-49F4-8358-4509D1E75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7001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DF44F-CE23-4F05-B583-7F828155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LSTM INTUITION – MATH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019302-CAF4-4DFF-AEBB-809565D9D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51376C1-654E-4474-94A2-2A7E73CF4DB1}"/>
              </a:ext>
            </a:extLst>
          </p:cNvPr>
          <p:cNvSpPr/>
          <p:nvPr/>
        </p:nvSpPr>
        <p:spPr>
          <a:xfrm>
            <a:off x="2686825" y="6315545"/>
            <a:ext cx="61389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/>
              <a:t>Reference and Photo Credit: </a:t>
            </a:r>
            <a:r>
              <a:rPr lang="en-CA" dirty="0">
                <a:hlinkClick r:id="rId2"/>
              </a:rPr>
              <a:t>https://colah.github.io/posts/2015-08-Understanding-LSTMs/</a:t>
            </a:r>
            <a:endParaRPr lang="en-CA" dirty="0"/>
          </a:p>
          <a:p>
            <a:endParaRPr lang="en-CA" dirty="0"/>
          </a:p>
        </p:txBody>
      </p:sp>
      <p:pic>
        <p:nvPicPr>
          <p:cNvPr id="6" name="Picture 2" descr="File:LSTM.png">
            <a:extLst>
              <a:ext uri="{FF2B5EF4-FFF2-40B4-BE49-F238E27FC236}">
                <a16:creationId xmlns:a16="http://schemas.microsoft.com/office/drawing/2014/main" id="{55D90D4C-7CC3-4756-BC58-F14DC82D08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70"/>
          <a:stretch/>
        </p:blipFill>
        <p:spPr bwMode="auto">
          <a:xfrm>
            <a:off x="5067561" y="1458136"/>
            <a:ext cx="6970086" cy="41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77169E15-FEF2-46A6-A15D-1ADD3F2D4B2F}"/>
                  </a:ext>
                </a:extLst>
              </p:cNvPr>
              <p:cNvSpPr txBox="1"/>
              <p:nvPr/>
            </p:nvSpPr>
            <p:spPr>
              <a:xfrm>
                <a:off x="19050" y="1434096"/>
                <a:ext cx="2840265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CA" dirty="0"/>
                  <a:t>)</a:t>
                </a:r>
              </a:p>
            </p:txBody>
          </p:sp>
        </mc:Choice>
        <mc:Fallback xmlns="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77169E15-FEF2-46A6-A15D-1ADD3F2D4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1434096"/>
                <a:ext cx="2840265" cy="391582"/>
              </a:xfrm>
              <a:prstGeom prst="rect">
                <a:avLst/>
              </a:prstGeom>
              <a:blipFill>
                <a:blip r:embed="rId4"/>
                <a:stretch>
                  <a:fillRect l="-644" t="-6250" b="-2031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69AD406B-FBBB-47D8-A665-01A5FB1A09E1}"/>
                  </a:ext>
                </a:extLst>
              </p:cNvPr>
              <p:cNvSpPr txBox="1"/>
              <p:nvPr/>
            </p:nvSpPr>
            <p:spPr>
              <a:xfrm>
                <a:off x="6573979" y="3601516"/>
                <a:ext cx="4935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69AD406B-FBBB-47D8-A665-01A5FB1A0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979" y="3601516"/>
                <a:ext cx="493597" cy="461665"/>
              </a:xfrm>
              <a:prstGeom prst="rect">
                <a:avLst/>
              </a:prstGeom>
              <a:blipFill>
                <a:blip r:embed="rId5"/>
                <a:stretch>
                  <a:fillRect l="-2469" b="-1710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5">
                <a:extLst>
                  <a:ext uri="{FF2B5EF4-FFF2-40B4-BE49-F238E27FC236}">
                    <a16:creationId xmlns:a16="http://schemas.microsoft.com/office/drawing/2014/main" id="{2D7ADC5C-1613-417E-A36E-DFA5960641EA}"/>
                  </a:ext>
                </a:extLst>
              </p:cNvPr>
              <p:cNvSpPr txBox="1"/>
              <p:nvPr/>
            </p:nvSpPr>
            <p:spPr>
              <a:xfrm>
                <a:off x="7647690" y="3369324"/>
                <a:ext cx="4695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15">
                <a:extLst>
                  <a:ext uri="{FF2B5EF4-FFF2-40B4-BE49-F238E27FC236}">
                    <a16:creationId xmlns:a16="http://schemas.microsoft.com/office/drawing/2014/main" id="{2D7ADC5C-1613-417E-A36E-DFA596064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690" y="3369324"/>
                <a:ext cx="469552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6">
                <a:extLst>
                  <a:ext uri="{FF2B5EF4-FFF2-40B4-BE49-F238E27FC236}">
                    <a16:creationId xmlns:a16="http://schemas.microsoft.com/office/drawing/2014/main" id="{A539EF37-4FF5-44C8-B636-E1F4A13F6EC9}"/>
                  </a:ext>
                </a:extLst>
              </p:cNvPr>
              <p:cNvSpPr txBox="1"/>
              <p:nvPr/>
            </p:nvSpPr>
            <p:spPr>
              <a:xfrm>
                <a:off x="8466879" y="3771448"/>
                <a:ext cx="538096" cy="469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16">
                <a:extLst>
                  <a:ext uri="{FF2B5EF4-FFF2-40B4-BE49-F238E27FC236}">
                    <a16:creationId xmlns:a16="http://schemas.microsoft.com/office/drawing/2014/main" id="{A539EF37-4FF5-44C8-B636-E1F4A13F6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879" y="3771448"/>
                <a:ext cx="538096" cy="469167"/>
              </a:xfrm>
              <a:prstGeom prst="rect">
                <a:avLst/>
              </a:prstGeom>
              <a:blipFill>
                <a:blip r:embed="rId7"/>
                <a:stretch>
                  <a:fillRect t="-9091" r="-2045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7">
                <a:extLst>
                  <a:ext uri="{FF2B5EF4-FFF2-40B4-BE49-F238E27FC236}">
                    <a16:creationId xmlns:a16="http://schemas.microsoft.com/office/drawing/2014/main" id="{00A3D397-7832-4D6A-BB90-8343F45FF6CB}"/>
                  </a:ext>
                </a:extLst>
              </p:cNvPr>
              <p:cNvSpPr txBox="1"/>
              <p:nvPr/>
            </p:nvSpPr>
            <p:spPr>
              <a:xfrm>
                <a:off x="2910192" y="1451373"/>
                <a:ext cx="29447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11" name="TextBox 17">
                <a:extLst>
                  <a:ext uri="{FF2B5EF4-FFF2-40B4-BE49-F238E27FC236}">
                    <a16:creationId xmlns:a16="http://schemas.microsoft.com/office/drawing/2014/main" id="{00A3D397-7832-4D6A-BB90-8343F45FF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92" y="1451373"/>
                <a:ext cx="2944717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20">
                <a:extLst>
                  <a:ext uri="{FF2B5EF4-FFF2-40B4-BE49-F238E27FC236}">
                    <a16:creationId xmlns:a16="http://schemas.microsoft.com/office/drawing/2014/main" id="{615D4FFB-F576-496B-9351-88FA382B9DC0}"/>
                  </a:ext>
                </a:extLst>
              </p:cNvPr>
              <p:cNvSpPr txBox="1"/>
              <p:nvPr/>
            </p:nvSpPr>
            <p:spPr>
              <a:xfrm>
                <a:off x="851623" y="3142491"/>
                <a:ext cx="2440092" cy="3750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2" name="TextBox 20">
                <a:extLst>
                  <a:ext uri="{FF2B5EF4-FFF2-40B4-BE49-F238E27FC236}">
                    <a16:creationId xmlns:a16="http://schemas.microsoft.com/office/drawing/2014/main" id="{615D4FFB-F576-496B-9351-88FA382B9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23" y="3142491"/>
                <a:ext cx="2440092" cy="375039"/>
              </a:xfrm>
              <a:prstGeom prst="rect">
                <a:avLst/>
              </a:prstGeom>
              <a:blipFill>
                <a:blip r:embed="rId9"/>
                <a:stretch>
                  <a:fillRect t="-4918" r="-4000" b="-1311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23">
                <a:extLst>
                  <a:ext uri="{FF2B5EF4-FFF2-40B4-BE49-F238E27FC236}">
                    <a16:creationId xmlns:a16="http://schemas.microsoft.com/office/drawing/2014/main" id="{60D03D5B-D394-4D84-8E4A-F985619EEC3B}"/>
                  </a:ext>
                </a:extLst>
              </p:cNvPr>
              <p:cNvSpPr txBox="1"/>
              <p:nvPr/>
            </p:nvSpPr>
            <p:spPr>
              <a:xfrm>
                <a:off x="0" y="4939387"/>
                <a:ext cx="2843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23">
                <a:extLst>
                  <a:ext uri="{FF2B5EF4-FFF2-40B4-BE49-F238E27FC236}">
                    <a16:creationId xmlns:a16="http://schemas.microsoft.com/office/drawing/2014/main" id="{60D03D5B-D394-4D84-8E4A-F985619EE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39387"/>
                <a:ext cx="2843599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24">
                <a:extLst>
                  <a:ext uri="{FF2B5EF4-FFF2-40B4-BE49-F238E27FC236}">
                    <a16:creationId xmlns:a16="http://schemas.microsoft.com/office/drawing/2014/main" id="{7E158EEE-FC8D-474E-88DE-FF214B44C288}"/>
                  </a:ext>
                </a:extLst>
              </p:cNvPr>
              <p:cNvSpPr txBox="1"/>
              <p:nvPr/>
            </p:nvSpPr>
            <p:spPr>
              <a:xfrm>
                <a:off x="1610785" y="5649930"/>
                <a:ext cx="20237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tanh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4" name="TextBox 24">
                <a:extLst>
                  <a:ext uri="{FF2B5EF4-FFF2-40B4-BE49-F238E27FC236}">
                    <a16:creationId xmlns:a16="http://schemas.microsoft.com/office/drawing/2014/main" id="{7E158EEE-FC8D-474E-88DE-FF214B44C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785" y="5649930"/>
                <a:ext cx="2023759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37643291-AC20-4333-8B09-6C9840FC7989}"/>
              </a:ext>
            </a:extLst>
          </p:cNvPr>
          <p:cNvSpPr/>
          <p:nvPr/>
        </p:nvSpPr>
        <p:spPr>
          <a:xfrm>
            <a:off x="1439183" y="3017117"/>
            <a:ext cx="296562" cy="617439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ounded Rectangle 25">
            <a:extLst>
              <a:ext uri="{FF2B5EF4-FFF2-40B4-BE49-F238E27FC236}">
                <a16:creationId xmlns:a16="http://schemas.microsoft.com/office/drawing/2014/main" id="{3A51FE4F-997A-4AF7-92F3-5B4941BF0D7F}"/>
              </a:ext>
            </a:extLst>
          </p:cNvPr>
          <p:cNvSpPr/>
          <p:nvPr/>
        </p:nvSpPr>
        <p:spPr>
          <a:xfrm>
            <a:off x="2482977" y="3052457"/>
            <a:ext cx="296562" cy="617439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7" name="Curved Connector 7">
            <a:extLst>
              <a:ext uri="{FF2B5EF4-FFF2-40B4-BE49-F238E27FC236}">
                <a16:creationId xmlns:a16="http://schemas.microsoft.com/office/drawing/2014/main" id="{DF5D4267-1FD0-42D2-84CF-5B0B5F1EAACD}"/>
              </a:ext>
            </a:extLst>
          </p:cNvPr>
          <p:cNvCxnSpPr>
            <a:endCxn id="15" idx="0"/>
          </p:cNvCxnSpPr>
          <p:nvPr/>
        </p:nvCxnSpPr>
        <p:spPr>
          <a:xfrm rot="16200000" flipH="1">
            <a:off x="506133" y="1935785"/>
            <a:ext cx="1224533" cy="938130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30">
            <a:extLst>
              <a:ext uri="{FF2B5EF4-FFF2-40B4-BE49-F238E27FC236}">
                <a16:creationId xmlns:a16="http://schemas.microsoft.com/office/drawing/2014/main" id="{D528FCB5-ADEB-4922-BC4A-ACF90DD53081}"/>
              </a:ext>
            </a:extLst>
          </p:cNvPr>
          <p:cNvCxnSpPr>
            <a:endCxn id="16" idx="0"/>
          </p:cNvCxnSpPr>
          <p:nvPr/>
        </p:nvCxnSpPr>
        <p:spPr>
          <a:xfrm rot="5400000">
            <a:off x="2496932" y="1960005"/>
            <a:ext cx="1226779" cy="958125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28">
                <a:extLst>
                  <a:ext uri="{FF2B5EF4-FFF2-40B4-BE49-F238E27FC236}">
                    <a16:creationId xmlns:a16="http://schemas.microsoft.com/office/drawing/2014/main" id="{2B812D80-1219-4972-8922-6DCD1634E553}"/>
                  </a:ext>
                </a:extLst>
              </p:cNvPr>
              <p:cNvSpPr/>
              <p:nvPr/>
            </p:nvSpPr>
            <p:spPr>
              <a:xfrm>
                <a:off x="2517359" y="3962584"/>
                <a:ext cx="3035318" cy="3750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9" name="Rectangle 28">
                <a:extLst>
                  <a:ext uri="{FF2B5EF4-FFF2-40B4-BE49-F238E27FC236}">
                    <a16:creationId xmlns:a16="http://schemas.microsoft.com/office/drawing/2014/main" id="{2B812D80-1219-4972-8922-6DCD1634E5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359" y="3962584"/>
                <a:ext cx="3035318" cy="375039"/>
              </a:xfrm>
              <a:prstGeom prst="rect">
                <a:avLst/>
              </a:prstGeom>
              <a:blipFill>
                <a:blip r:embed="rId12"/>
                <a:stretch>
                  <a:fillRect t="-4839" b="-1290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35">
            <a:extLst>
              <a:ext uri="{FF2B5EF4-FFF2-40B4-BE49-F238E27FC236}">
                <a16:creationId xmlns:a16="http://schemas.microsoft.com/office/drawing/2014/main" id="{6FDD7827-A685-4CE1-88FB-3C96797209FE}"/>
              </a:ext>
            </a:extLst>
          </p:cNvPr>
          <p:cNvCxnSpPr/>
          <p:nvPr/>
        </p:nvCxnSpPr>
        <p:spPr>
          <a:xfrm rot="10800000">
            <a:off x="3156310" y="3238446"/>
            <a:ext cx="1476676" cy="858411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38">
                <a:extLst>
                  <a:ext uri="{FF2B5EF4-FFF2-40B4-BE49-F238E27FC236}">
                    <a16:creationId xmlns:a16="http://schemas.microsoft.com/office/drawing/2014/main" id="{C48EE056-5980-42B1-833F-0756CD45AAE3}"/>
                  </a:ext>
                </a:extLst>
              </p:cNvPr>
              <p:cNvSpPr txBox="1"/>
              <p:nvPr/>
            </p:nvSpPr>
            <p:spPr>
              <a:xfrm>
                <a:off x="9145210" y="3369324"/>
                <a:ext cx="5255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TextBox 38">
                <a:extLst>
                  <a:ext uri="{FF2B5EF4-FFF2-40B4-BE49-F238E27FC236}">
                    <a16:creationId xmlns:a16="http://schemas.microsoft.com/office/drawing/2014/main" id="{C48EE056-5980-42B1-833F-0756CD45A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210" y="3369324"/>
                <a:ext cx="525528" cy="461665"/>
              </a:xfrm>
              <a:prstGeom prst="rect">
                <a:avLst/>
              </a:prstGeom>
              <a:blipFill>
                <a:blip r:embed="rId1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39">
            <a:extLst>
              <a:ext uri="{FF2B5EF4-FFF2-40B4-BE49-F238E27FC236}">
                <a16:creationId xmlns:a16="http://schemas.microsoft.com/office/drawing/2014/main" id="{A8337485-17AC-4AB9-944D-F5FC373FA2BB}"/>
              </a:ext>
            </a:extLst>
          </p:cNvPr>
          <p:cNvSpPr/>
          <p:nvPr/>
        </p:nvSpPr>
        <p:spPr>
          <a:xfrm>
            <a:off x="2201747" y="5564790"/>
            <a:ext cx="296562" cy="617439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3" name="Curved Connector 40">
            <a:extLst>
              <a:ext uri="{FF2B5EF4-FFF2-40B4-BE49-F238E27FC236}">
                <a16:creationId xmlns:a16="http://schemas.microsoft.com/office/drawing/2014/main" id="{91B31CC5-D434-4EB5-ACBD-A5B58EF8DF02}"/>
              </a:ext>
            </a:extLst>
          </p:cNvPr>
          <p:cNvCxnSpPr/>
          <p:nvPr/>
        </p:nvCxnSpPr>
        <p:spPr>
          <a:xfrm>
            <a:off x="1495872" y="5304652"/>
            <a:ext cx="705875" cy="37873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https://upload.wikimedia.org/wikipedia/commons/thumb/1/13/ITCR_LOGO.svg/1063px-ITCR_LOGO.svg.png">
            <a:extLst>
              <a:ext uri="{FF2B5EF4-FFF2-40B4-BE49-F238E27FC236}">
                <a16:creationId xmlns:a16="http://schemas.microsoft.com/office/drawing/2014/main" id="{D7151BD0-B542-4A0A-A423-044F7805D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65" y="489361"/>
            <a:ext cx="1010763" cy="973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9632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/>
      <p:bldP spid="15" grpId="0" animBg="1"/>
      <p:bldP spid="16" grpId="0" animBg="1"/>
      <p:bldP spid="19" grpId="0"/>
      <p:bldP spid="22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</TotalTime>
  <Words>1782</Words>
  <Application>Microsoft Office PowerPoint</Application>
  <PresentationFormat>Panorámica</PresentationFormat>
  <Paragraphs>209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medium-content-serif-font</vt:lpstr>
      <vt:lpstr>Montserrat</vt:lpstr>
      <vt:lpstr>Tema de Office</vt:lpstr>
      <vt:lpstr>Inteligencia Artificial</vt:lpstr>
      <vt:lpstr>Agenda</vt:lpstr>
      <vt:lpstr>Recurrent Neural Networks</vt:lpstr>
      <vt:lpstr>RECURRENT NEURAL NETWORKS (RNN): WHAT ARE THEY?</vt:lpstr>
      <vt:lpstr>Recurrent Neural Networks Architecture</vt:lpstr>
      <vt:lpstr>RNN ARCHITECTURE</vt:lpstr>
      <vt:lpstr>RNNs WORK LIKE MAGIC!</vt:lpstr>
      <vt:lpstr>WHAT MAKES RECURRENT NEURAL NETWORKS SO SPECIAL?!</vt:lpstr>
      <vt:lpstr>WHAT MAKES RNNs SO SPECIAL? </vt:lpstr>
      <vt:lpstr>WHAT MAKES RNNs SO SPECIAL? </vt:lpstr>
      <vt:lpstr>RECURRENT NEURAL NETWORK MATH</vt:lpstr>
      <vt:lpstr>RNN MATH</vt:lpstr>
      <vt:lpstr>LET’S HAVE SOME FUN WITH RECURRENT NEURAL NETWORKS! =)</vt:lpstr>
      <vt:lpstr>LET’S WATCH THIS MOVIE WRITTEN BY AN RNN!</vt:lpstr>
      <vt:lpstr>VANISHING GRADIENT PROBLEM</vt:lpstr>
      <vt:lpstr>VANISHING GRADIENT PROBLEM</vt:lpstr>
      <vt:lpstr>VANISHING GRADIENT PROBLEM</vt:lpstr>
      <vt:lpstr>GRADIENT DESCENT</vt:lpstr>
      <vt:lpstr>LEARNING RATE</vt:lpstr>
      <vt:lpstr>GRADIENT DESCENT</vt:lpstr>
      <vt:lpstr>GRADIENT DESCENT MATH!</vt:lpstr>
      <vt:lpstr>LONG SHORT TERM MEMORY (LSTM) NETWORKS</vt:lpstr>
      <vt:lpstr>LSTM INTUITION</vt:lpstr>
      <vt:lpstr>LSTM INTUITION</vt:lpstr>
      <vt:lpstr>LSTM INTUITION – GATES</vt:lpstr>
      <vt:lpstr>LSTM INTUITION – MATH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Elementos de computación</dc:title>
  <dc:creator>Efrén</dc:creator>
  <cp:lastModifiedBy>Efrén Jiménez Delgado</cp:lastModifiedBy>
  <cp:revision>76</cp:revision>
  <dcterms:created xsi:type="dcterms:W3CDTF">2015-07-20T03:55:01Z</dcterms:created>
  <dcterms:modified xsi:type="dcterms:W3CDTF">2024-11-01T20:53:37Z</dcterms:modified>
</cp:coreProperties>
</file>